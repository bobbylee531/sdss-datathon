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Inter Bold" charset="1" panose="02000503000000020004"/>
      <p:regular r:id="rId24"/>
    </p:embeddedFont>
    <p:embeddedFont>
      <p:font typeface="Inter" charset="1" panose="02000503000000020004"/>
      <p:regular r:id="rId26"/>
    </p:embeddedFont>
    <p:embeddedFont>
      <p:font typeface="Arimo Bold" charset="1" panose="020B0704020202020204"/>
      <p:regular r:id="rId30"/>
    </p:embeddedFont>
    <p:embeddedFont>
      <p:font typeface="Arimo" charset="1" panose="020B0604020202020204"/>
      <p:regular r:id="rId31"/>
    </p:embeddedFont>
    <p:embeddedFont>
      <p:font typeface="Inter Semi-Bold" charset="1" panose="020005030000000200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fonts/font38.fntdata" Type="http://schemas.openxmlformats.org/officeDocument/2006/relationships/font"/><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Effect of friendship, family, close social connections on different measures of health or wellbeing.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COVID Impact Analysis:</a:t>
            </a:r>
          </a:p>
          <a:p>
            <a:r>
              <a:rPr lang="en-US"/>
              <a:t>1. Majority Stable:58% of households reported no change in their financial situation, suggesting strong household balance sheets and government support programs CERB, etc. were effective.</a:t>
            </a:r>
          </a:p>
          <a:p>
            <a:r>
              <a:rPr lang="en-US"/>
              <a:t>2. Negative Impact:31% experienced financial worsening, likely affecting:</a:t>
            </a:r>
          </a:p>
          <a:p>
            <a:r>
              <a:rPr lang="en-US"/>
              <a:t>Low-income households</a:t>
            </a:r>
          </a:p>
          <a:p>
            <a:r>
              <a:rPr lang="en-US"/>
              <a:t>Service sector workers</a:t>
            </a:r>
          </a:p>
          <a:p>
            <a:r>
              <a:rPr lang="en-US"/>
              <a:t>Small business owners</a:t>
            </a:r>
          </a:p>
          <a:p>
            <a:r>
              <a:rPr lang="en-US"/>
              <a:t>Those with job losses or reduced hours</a:t>
            </a:r>
          </a:p>
          <a:p>
            <a:r>
              <a:rPr lang="en-US"/>
              <a:t>3. Positive Impact:11% experienced financial improvement, benefiting from:</a:t>
            </a:r>
          </a:p>
          <a:p>
            <a:r>
              <a:rPr lang="en-US"/>
              <a:t>Reduced expenses commuting, dining out</a:t>
            </a:r>
          </a:p>
          <a:p>
            <a:r>
              <a:rPr lang="en-US"/>
              <a:t>Increased savings rates</a:t>
            </a:r>
          </a:p>
          <a:p>
            <a:r>
              <a:rPr lang="en-US"/>
              <a:t>Investment market gains</a:t>
            </a:r>
          </a:p>
          <a:p>
            <a:r>
              <a:rPr lang="en-US"/>
              <a:t>Government transfers</a:t>
            </a:r>
          </a:p>
          <a:p>
            <a:r>
              <a:rPr lang="en-US"/>
              <a:t>4. Net Worth Correlation:Households with "stayed same" status had the highest average net worth 1.62M, suggesting financial resilience is linked to wealth.</a:t>
            </a:r>
          </a:p>
          <a:p>
            <a:r>
              <a:rPr lang="en-US"/>
              <a:t>Long-term Implications:</a:t>
            </a:r>
          </a:p>
          <a:p>
            <a:r>
              <a:rPr lang="en-US"/>
              <a:t>Widening wealth gap between resilient and vulnerable households</a:t>
            </a:r>
          </a:p>
          <a:p>
            <a:r>
              <a:rPr lang="en-US"/>
              <a:t>Increased savings rates for some households</a:t>
            </a:r>
          </a:p>
          <a:p>
            <a:r>
              <a:rPr lang="en-US"/>
              <a:t>Potential permanent shifts in work and spending patterns</a:t>
            </a:r>
          </a:p>
          <a:p>
            <a:r>
              <a:rPr lang="en-US"/>
              <a:t>Government policy evaluation point for future crises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the comprehensive analysis, we can identify key indicators of household financial health.</a:t>
            </a:r>
          </a:p>
          <a:p>
            <a:r>
              <a:rPr lang="en-US"/>
              <a:t>Positive Indicators:</a:t>
            </a:r>
          </a:p>
          <a:p>
            <a:r>
              <a:rPr lang="en-US"/>
              <a:t>Net worth above median 902,500</a:t>
            </a:r>
          </a:p>
          <a:p>
            <a:r>
              <a:rPr lang="en-US"/>
              <a:t>Full credit card payment each month</a:t>
            </a:r>
          </a:p>
          <a:p>
            <a:r>
              <a:rPr lang="en-US"/>
              <a:t>Home ownership with or without mortgage</a:t>
            </a:r>
          </a:p>
          <a:p>
            <a:r>
              <a:rPr lang="en-US"/>
              <a:t>University or post-secondary education</a:t>
            </a:r>
          </a:p>
          <a:p>
            <a:r>
              <a:rPr lang="en-US"/>
              <a:t>Diversified asset holdings home + liquid investments + registered accounts</a:t>
            </a:r>
          </a:p>
          <a:p>
            <a:r>
              <a:rPr lang="en-US"/>
              <a:t>Stable employment full-time work</a:t>
            </a:r>
          </a:p>
          <a:p>
            <a:r>
              <a:rPr lang="en-US"/>
              <a:t>Multiple earners in household</a:t>
            </a:r>
          </a:p>
          <a:p>
            <a:r>
              <a:rPr lang="en-US"/>
              <a:t>Risk Indicators:</a:t>
            </a:r>
          </a:p>
          <a:p>
            <a:r>
              <a:rPr lang="en-US"/>
              <a:t>Net worth below 25th percentile 289,250</a:t>
            </a:r>
          </a:p>
          <a:p>
            <a:r>
              <a:rPr lang="en-US"/>
              <a:t>Carrying credit card balances month-to-month</a:t>
            </a:r>
          </a:p>
          <a:p>
            <a:r>
              <a:rPr lang="en-US"/>
              <a:t>Renting vs. owning</a:t>
            </a:r>
          </a:p>
          <a:p>
            <a:r>
              <a:rPr lang="en-US"/>
              <a:t>No post-secondary education</a:t>
            </a:r>
          </a:p>
          <a:p>
            <a:r>
              <a:rPr lang="en-US"/>
              <a:t>Limited asset diversification</a:t>
            </a:r>
          </a:p>
          <a:p>
            <a:r>
              <a:rPr lang="en-US"/>
              <a:t>Part-time or no employment</a:t>
            </a:r>
          </a:p>
          <a:p>
            <a:r>
              <a:rPr lang="en-US"/>
              <a:t>Single earner household</a:t>
            </a:r>
          </a:p>
          <a:p>
            <a:r>
              <a:rPr lang="en-US"/>
              <a:t>Financial Health Distribution:</a:t>
            </a:r>
          </a:p>
          <a:p>
            <a:r>
              <a:rPr lang="en-US"/>
              <a:t>Based on payment behavior, approximately 66% of households demonstrate strong financial health full credit card payments, 26% show moderate risk partial or minimum payments, and 7% show signs of financial stress skip or below-minimum payments.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Policy Implications and Recommendations</a:t>
            </a:r>
          </a:p>
          <a:p>
            <a:r>
              <a:rPr lang="en-US"/>
              <a:t>The analysis reveals several areas where policy interventions could improve household financial outcomes.</a:t>
            </a:r>
          </a:p>
          <a:p>
            <a:r>
              <a:rPr lang="en-US"/>
              <a:t>Homeownership Support:</a:t>
            </a:r>
          </a:p>
          <a:p>
            <a:r>
              <a:rPr lang="en-US"/>
              <a:t>The 7.2x wealth gap between owners and renters suggests supporting homeownership could reduce wealth inequality</a:t>
            </a:r>
          </a:p>
          <a:p>
            <a:r>
              <a:rPr lang="en-US"/>
              <a:t>Consider down payment assistance, first-time buyer programs, and affordable housing initiatives</a:t>
            </a:r>
          </a:p>
          <a:p>
            <a:r>
              <a:rPr lang="en-US"/>
              <a:t>Financial Education:</a:t>
            </a:r>
          </a:p>
          <a:p>
            <a:r>
              <a:rPr lang="en-US"/>
              <a:t>Strong correlation between education and net worth suggests value in financial literacy programs</a:t>
            </a:r>
          </a:p>
          <a:p>
            <a:r>
              <a:rPr lang="en-US"/>
              <a:t>Target programs at young adults and lower-education households</a:t>
            </a:r>
          </a:p>
          <a:p>
            <a:r>
              <a:rPr lang="en-US"/>
              <a:t>Debt Management:</a:t>
            </a:r>
          </a:p>
          <a:p>
            <a:r>
              <a:rPr lang="en-US"/>
              <a:t>26% of households carry credit card balances or make minimum payments</a:t>
            </a:r>
          </a:p>
          <a:p>
            <a:r>
              <a:rPr lang="en-US"/>
              <a:t>Promote debt counseling and financial planning services</a:t>
            </a:r>
          </a:p>
          <a:p>
            <a:r>
              <a:rPr lang="en-US"/>
              <a:t>Consider regulation on predatory lending practices</a:t>
            </a:r>
          </a:p>
          <a:p>
            <a:r>
              <a:rPr lang="en-US"/>
              <a:t>Savings Incentives:</a:t>
            </a:r>
          </a:p>
          <a:p>
            <a:r>
              <a:rPr lang="en-US"/>
              <a:t>Encourage TFSA and RRSP contributions through matching programs or tax incentives</a:t>
            </a:r>
          </a:p>
          <a:p>
            <a:r>
              <a:rPr lang="en-US"/>
              <a:t>Promote automatic enrollment in workplace savings plans</a:t>
            </a:r>
          </a:p>
          <a:p>
            <a:r>
              <a:rPr lang="en-US"/>
              <a:t>COVID-19 Recovery:</a:t>
            </a:r>
          </a:p>
          <a:p>
            <a:r>
              <a:rPr lang="en-US"/>
              <a:t>31% of households experienced financial worsening during pandemic</a:t>
            </a:r>
          </a:p>
          <a:p>
            <a:r>
              <a:rPr lang="en-US"/>
              <a:t>Targeted support for vulnerable households low-income, service sector</a:t>
            </a:r>
          </a:p>
          <a:p>
            <a:r>
              <a:rPr lang="en-US"/>
              <a:t>Strengthen social safety nets for future crises</a:t>
            </a:r>
          </a:p>
          <a:p>
            <a:r>
              <a:rPr lang="en-US"/>
              <a:t>Addressing Wealth Inequality:</a:t>
            </a:r>
          </a:p>
          <a:p>
            <a:r>
              <a:rPr lang="en-US"/>
              <a:t>The wide gap between median and 75th percentile net worth 905K vs 1.95M indicates concentration of wealth</a:t>
            </a:r>
          </a:p>
          <a:p>
            <a:r>
              <a:rPr lang="en-US"/>
              <a:t>Consider progressive taxation and wealth redistribution policies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1.png" Type="http://schemas.openxmlformats.org/officeDocument/2006/relationships/image"/><Relationship Id="rId8"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510128" y="649876"/>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grpSp>
        <p:nvGrpSpPr>
          <p:cNvPr name="Group 4" id="4"/>
          <p:cNvGrpSpPr/>
          <p:nvPr/>
        </p:nvGrpSpPr>
        <p:grpSpPr>
          <a:xfrm rot="0">
            <a:off x="0" y="10189950"/>
            <a:ext cx="18493197" cy="96603"/>
            <a:chOff x="0" y="0"/>
            <a:chExt cx="24657596" cy="128803"/>
          </a:xfrm>
        </p:grpSpPr>
        <p:sp>
          <p:nvSpPr>
            <p:cNvPr name="Freeform 5" id="5"/>
            <p:cNvSpPr/>
            <p:nvPr/>
          </p:nvSpPr>
          <p:spPr>
            <a:xfrm flipH="false" flipV="false" rot="0">
              <a:off x="0" y="0"/>
              <a:ext cx="24657558" cy="128778"/>
            </a:xfrm>
            <a:custGeom>
              <a:avLst/>
              <a:gdLst/>
              <a:ahLst/>
              <a:cxnLst/>
              <a:rect r="r" b="b" t="t" l="l"/>
              <a:pathLst>
                <a:path h="128778" w="24657558">
                  <a:moveTo>
                    <a:pt x="0" y="0"/>
                  </a:moveTo>
                  <a:lnTo>
                    <a:pt x="24657558" y="0"/>
                  </a:lnTo>
                  <a:lnTo>
                    <a:pt x="24657558" y="128778"/>
                  </a:lnTo>
                  <a:lnTo>
                    <a:pt x="0" y="128778"/>
                  </a:lnTo>
                  <a:close/>
                </a:path>
              </a:pathLst>
            </a:custGeom>
            <a:solidFill>
              <a:srgbClr val="6C94B2"/>
            </a:solidFill>
          </p:spPr>
        </p:sp>
      </p:grpSp>
      <p:sp>
        <p:nvSpPr>
          <p:cNvPr name="Freeform 6" id="6"/>
          <p:cNvSpPr/>
          <p:nvPr/>
        </p:nvSpPr>
        <p:spPr>
          <a:xfrm flipH="false" flipV="false" rot="0">
            <a:off x="333004" y="410004"/>
            <a:ext cx="1102966" cy="1103052"/>
          </a:xfrm>
          <a:custGeom>
            <a:avLst/>
            <a:gdLst/>
            <a:ahLst/>
            <a:cxnLst/>
            <a:rect r="r" b="b" t="t" l="l"/>
            <a:pathLst>
              <a:path h="1103052" w="1102966">
                <a:moveTo>
                  <a:pt x="0" y="0"/>
                </a:moveTo>
                <a:lnTo>
                  <a:pt x="1102966" y="0"/>
                </a:lnTo>
                <a:lnTo>
                  <a:pt x="1102966" y="1103052"/>
                </a:lnTo>
                <a:lnTo>
                  <a:pt x="0" y="11030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565993" y="287388"/>
            <a:ext cx="3156023" cy="879662"/>
          </a:xfrm>
          <a:custGeom>
            <a:avLst/>
            <a:gdLst/>
            <a:ahLst/>
            <a:cxnLst/>
            <a:rect r="r" b="b" t="t" l="l"/>
            <a:pathLst>
              <a:path h="879662" w="3156023">
                <a:moveTo>
                  <a:pt x="0" y="0"/>
                </a:moveTo>
                <a:lnTo>
                  <a:pt x="3156023" y="0"/>
                </a:lnTo>
                <a:lnTo>
                  <a:pt x="3156023" y="879663"/>
                </a:lnTo>
                <a:lnTo>
                  <a:pt x="0" y="8796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435970" y="1927814"/>
            <a:ext cx="15462781" cy="3839400"/>
            <a:chOff x="0" y="0"/>
            <a:chExt cx="20617042" cy="5119200"/>
          </a:xfrm>
        </p:grpSpPr>
        <p:sp>
          <p:nvSpPr>
            <p:cNvPr name="Freeform 9" id="9"/>
            <p:cNvSpPr/>
            <p:nvPr/>
          </p:nvSpPr>
          <p:spPr>
            <a:xfrm flipH="false" flipV="false" rot="0">
              <a:off x="0" y="0"/>
              <a:ext cx="20617047" cy="5119195"/>
            </a:xfrm>
            <a:custGeom>
              <a:avLst/>
              <a:gdLst/>
              <a:ahLst/>
              <a:cxnLst/>
              <a:rect r="r" b="b" t="t" l="l"/>
              <a:pathLst>
                <a:path h="5119195" w="20617047">
                  <a:moveTo>
                    <a:pt x="0" y="0"/>
                  </a:moveTo>
                  <a:lnTo>
                    <a:pt x="20617047" y="0"/>
                  </a:lnTo>
                  <a:lnTo>
                    <a:pt x="20617047" y="5119195"/>
                  </a:lnTo>
                  <a:lnTo>
                    <a:pt x="0" y="5119195"/>
                  </a:lnTo>
                  <a:close/>
                </a:path>
              </a:pathLst>
            </a:custGeom>
            <a:blipFill>
              <a:blip r:embed="rId7">
                <a:alphaModFix amt="0"/>
              </a:blip>
              <a:stretch>
                <a:fillRect l="0" t="-25656" r="3590" b="-25656"/>
              </a:stretch>
            </a:blipFill>
          </p:spPr>
        </p:sp>
        <p:sp>
          <p:nvSpPr>
            <p:cNvPr name="TextBox 10" id="10"/>
            <p:cNvSpPr txBox="true"/>
            <p:nvPr/>
          </p:nvSpPr>
          <p:spPr>
            <a:xfrm>
              <a:off x="0" y="76200"/>
              <a:ext cx="20617042" cy="5043000"/>
            </a:xfrm>
            <a:prstGeom prst="rect">
              <a:avLst/>
            </a:prstGeom>
          </p:spPr>
          <p:txBody>
            <a:bodyPr anchor="b" rtlCol="false" tIns="0" lIns="0" bIns="0" rIns="0"/>
            <a:lstStyle/>
            <a:p>
              <a:pPr algn="ctr">
                <a:lnSpc>
                  <a:spcPts val="6479"/>
                </a:lnSpc>
              </a:pPr>
              <a:r>
                <a:rPr lang="en-US" sz="5999" b="true">
                  <a:solidFill>
                    <a:srgbClr val="1A1A1A"/>
                  </a:solidFill>
                  <a:latin typeface="Inter Bold"/>
                  <a:ea typeface="Inter Bold"/>
                  <a:cs typeface="Inter Bold"/>
                  <a:sym typeface="Inter Bold"/>
                </a:rPr>
                <a:t>Canadian Household Personal Finance Analysis 2022</a:t>
              </a:r>
            </a:p>
            <a:p>
              <a:pPr algn="l">
                <a:lnSpc>
                  <a:spcPts val="1944"/>
                </a:lnSpc>
              </a:pPr>
            </a:p>
            <a:p>
              <a:pPr algn="l">
                <a:lnSpc>
                  <a:spcPts val="5184"/>
                </a:lnSpc>
              </a:pPr>
            </a:p>
          </p:txBody>
        </p:sp>
      </p:grpSp>
      <p:sp>
        <p:nvSpPr>
          <p:cNvPr name="Freeform 11" id="11"/>
          <p:cNvSpPr/>
          <p:nvPr/>
        </p:nvSpPr>
        <p:spPr>
          <a:xfrm flipH="false" flipV="false" rot="0">
            <a:off x="15233723" y="1635652"/>
            <a:ext cx="7948193" cy="1106014"/>
          </a:xfrm>
          <a:custGeom>
            <a:avLst/>
            <a:gdLst/>
            <a:ahLst/>
            <a:cxnLst/>
            <a:rect r="r" b="b" t="t" l="l"/>
            <a:pathLst>
              <a:path h="1106014" w="7948193">
                <a:moveTo>
                  <a:pt x="0" y="0"/>
                </a:moveTo>
                <a:lnTo>
                  <a:pt x="7948193" y="0"/>
                </a:lnTo>
                <a:lnTo>
                  <a:pt x="7948193" y="1106014"/>
                </a:lnTo>
                <a:lnTo>
                  <a:pt x="0" y="11060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3826147" y="4661402"/>
            <a:ext cx="6070778" cy="6717659"/>
          </a:xfrm>
          <a:custGeom>
            <a:avLst/>
            <a:gdLst/>
            <a:ahLst/>
            <a:cxnLst/>
            <a:rect r="r" b="b" t="t" l="l"/>
            <a:pathLst>
              <a:path h="6717659" w="6070778">
                <a:moveTo>
                  <a:pt x="0" y="0"/>
                </a:moveTo>
                <a:lnTo>
                  <a:pt x="6070778" y="0"/>
                </a:lnTo>
                <a:lnTo>
                  <a:pt x="6070778" y="6717658"/>
                </a:lnTo>
                <a:lnTo>
                  <a:pt x="0" y="67176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82899" y="4192276"/>
            <a:ext cx="3156099" cy="5997569"/>
          </a:xfrm>
          <a:custGeom>
            <a:avLst/>
            <a:gdLst/>
            <a:ahLst/>
            <a:cxnLst/>
            <a:rect r="r" b="b" t="t" l="l"/>
            <a:pathLst>
              <a:path h="5997569" w="3156099">
                <a:moveTo>
                  <a:pt x="0" y="0"/>
                </a:moveTo>
                <a:lnTo>
                  <a:pt x="3156099" y="0"/>
                </a:lnTo>
                <a:lnTo>
                  <a:pt x="3156099" y="5997569"/>
                </a:lnTo>
                <a:lnTo>
                  <a:pt x="0" y="59975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4" id="14"/>
          <p:cNvGrpSpPr/>
          <p:nvPr/>
        </p:nvGrpSpPr>
        <p:grpSpPr>
          <a:xfrm rot="0">
            <a:off x="13467655" y="592846"/>
            <a:ext cx="4850997" cy="815397"/>
            <a:chOff x="0" y="0"/>
            <a:chExt cx="6467996" cy="1087196"/>
          </a:xfrm>
        </p:grpSpPr>
        <p:sp>
          <p:nvSpPr>
            <p:cNvPr name="Freeform 15" id="15"/>
            <p:cNvSpPr/>
            <p:nvPr/>
          </p:nvSpPr>
          <p:spPr>
            <a:xfrm flipH="false" flipV="false" rot="0">
              <a:off x="0" y="0"/>
              <a:ext cx="6467983" cy="1087247"/>
            </a:xfrm>
            <a:custGeom>
              <a:avLst/>
              <a:gdLst/>
              <a:ahLst/>
              <a:cxnLst/>
              <a:rect r="r" b="b" t="t" l="l"/>
              <a:pathLst>
                <a:path h="1087247" w="6467983">
                  <a:moveTo>
                    <a:pt x="0" y="0"/>
                  </a:moveTo>
                  <a:lnTo>
                    <a:pt x="6467983" y="0"/>
                  </a:lnTo>
                  <a:lnTo>
                    <a:pt x="6467983" y="1087247"/>
                  </a:lnTo>
                  <a:lnTo>
                    <a:pt x="0" y="1087247"/>
                  </a:lnTo>
                  <a:close/>
                </a:path>
              </a:pathLst>
            </a:custGeom>
            <a:solidFill>
              <a:srgbClr val="6C94B2"/>
            </a:solidFill>
          </p:spPr>
        </p:sp>
      </p:grpSp>
      <p:sp>
        <p:nvSpPr>
          <p:cNvPr name="Freeform 16" id="16"/>
          <p:cNvSpPr/>
          <p:nvPr/>
        </p:nvSpPr>
        <p:spPr>
          <a:xfrm flipH="false" flipV="false" rot="0">
            <a:off x="1031958" y="966578"/>
            <a:ext cx="1789100" cy="1303782"/>
          </a:xfrm>
          <a:custGeom>
            <a:avLst/>
            <a:gdLst/>
            <a:ahLst/>
            <a:cxnLst/>
            <a:rect r="r" b="b" t="t" l="l"/>
            <a:pathLst>
              <a:path h="1303782" w="1789100">
                <a:moveTo>
                  <a:pt x="0" y="0"/>
                </a:moveTo>
                <a:lnTo>
                  <a:pt x="1789099" y="0"/>
                </a:lnTo>
                <a:lnTo>
                  <a:pt x="1789099" y="1303782"/>
                </a:lnTo>
                <a:lnTo>
                  <a:pt x="0" y="13037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7" id="17"/>
          <p:cNvSpPr txBox="true"/>
          <p:nvPr/>
        </p:nvSpPr>
        <p:spPr>
          <a:xfrm rot="0">
            <a:off x="6626254" y="5143500"/>
            <a:ext cx="11866943" cy="1028421"/>
          </a:xfrm>
          <a:prstGeom prst="rect">
            <a:avLst/>
          </a:prstGeom>
        </p:spPr>
        <p:txBody>
          <a:bodyPr anchor="t" rtlCol="false" tIns="0" lIns="0" bIns="0" rIns="0">
            <a:spAutoFit/>
          </a:bodyPr>
          <a:lstStyle/>
          <a:p>
            <a:pPr algn="l">
              <a:lnSpc>
                <a:spcPts val="2073"/>
              </a:lnSpc>
              <a:spcBef>
                <a:spcPct val="0"/>
              </a:spcBef>
            </a:pPr>
            <a:r>
              <a:rPr lang="en-US" b="true" sz="1727">
                <a:solidFill>
                  <a:srgbClr val="3C5366"/>
                </a:solidFill>
                <a:latin typeface="Inter Bold"/>
                <a:ea typeface="Inter Bold"/>
                <a:cs typeface="Inter Bold"/>
                <a:sym typeface="Inter Bold"/>
              </a:rPr>
              <a:t>Shimeng Wang  Simone.wang@mail.utoronto.ca</a:t>
            </a:r>
          </a:p>
          <a:p>
            <a:pPr algn="l">
              <a:lnSpc>
                <a:spcPts val="2073"/>
              </a:lnSpc>
              <a:spcBef>
                <a:spcPct val="0"/>
              </a:spcBef>
            </a:pPr>
            <a:r>
              <a:rPr lang="en-US" b="true" sz="1727">
                <a:solidFill>
                  <a:srgbClr val="3C5366"/>
                </a:solidFill>
                <a:latin typeface="Inter Bold"/>
                <a:ea typeface="Inter Bold"/>
                <a:cs typeface="Inter Bold"/>
                <a:sym typeface="Inter Bold"/>
              </a:rPr>
              <a:t>Yiming Li, goat.li@mail.utoronto.ca</a:t>
            </a:r>
          </a:p>
          <a:p>
            <a:pPr algn="l">
              <a:lnSpc>
                <a:spcPts val="2073"/>
              </a:lnSpc>
              <a:spcBef>
                <a:spcPct val="0"/>
              </a:spcBef>
            </a:pPr>
            <a:r>
              <a:rPr lang="en-US" b="true" sz="1727">
                <a:solidFill>
                  <a:srgbClr val="3C5366"/>
                </a:solidFill>
                <a:latin typeface="Inter Bold"/>
                <a:ea typeface="Inter Bold"/>
                <a:cs typeface="Inter Bold"/>
                <a:sym typeface="Inter Bold"/>
              </a:rPr>
              <a:t>Yuanzhe Li, yzb.li@mail.utoronto.ca</a:t>
            </a:r>
          </a:p>
          <a:p>
            <a:pPr algn="l">
              <a:lnSpc>
                <a:spcPts val="2073"/>
              </a:lnSpc>
              <a:spcBef>
                <a:spcPct val="0"/>
              </a:spcBef>
            </a:pPr>
            <a:r>
              <a:rPr lang="en-US" b="true" sz="1727">
                <a:solidFill>
                  <a:srgbClr val="3C5366"/>
                </a:solidFill>
                <a:latin typeface="Inter Bold"/>
                <a:ea typeface="Inter Bold"/>
                <a:cs typeface="Inter Bold"/>
                <a:sym typeface="Inter Bold"/>
              </a:rPr>
              <a:t>Ruiqi Zhang  ruiqirae.zhang@mail.utoronto.ca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16575348" y="8626802"/>
            <a:ext cx="808558" cy="807463"/>
          </a:xfrm>
          <a:custGeom>
            <a:avLst/>
            <a:gdLst/>
            <a:ahLst/>
            <a:cxnLst/>
            <a:rect r="r" b="b" t="t" l="l"/>
            <a:pathLst>
              <a:path h="807463" w="808558">
                <a:moveTo>
                  <a:pt x="0" y="0"/>
                </a:moveTo>
                <a:lnTo>
                  <a:pt x="808558" y="0"/>
                </a:lnTo>
                <a:lnTo>
                  <a:pt x="808558" y="807463"/>
                </a:lnTo>
                <a:lnTo>
                  <a:pt x="0" y="807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01822" y="10"/>
            <a:ext cx="1642053" cy="3512001"/>
          </a:xfrm>
          <a:custGeom>
            <a:avLst/>
            <a:gdLst/>
            <a:ahLst/>
            <a:cxnLst/>
            <a:rect r="r" b="b" t="t" l="l"/>
            <a:pathLst>
              <a:path h="3512001" w="1642053">
                <a:moveTo>
                  <a:pt x="0" y="0"/>
                </a:moveTo>
                <a:lnTo>
                  <a:pt x="1642053" y="0"/>
                </a:lnTo>
                <a:lnTo>
                  <a:pt x="1642053" y="3512000"/>
                </a:lnTo>
                <a:lnTo>
                  <a:pt x="0" y="3512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883296" y="1298810"/>
            <a:ext cx="4521398" cy="914400"/>
          </a:xfrm>
          <a:prstGeom prst="rect">
            <a:avLst/>
          </a:prstGeom>
        </p:spPr>
        <p:txBody>
          <a:bodyPr anchor="t" rtlCol="false" tIns="0" lIns="0" bIns="0" rIns="0">
            <a:spAutoFit/>
          </a:bodyPr>
          <a:lstStyle/>
          <a:p>
            <a:pPr algn="ctr">
              <a:lnSpc>
                <a:spcPts val="7200"/>
              </a:lnSpc>
            </a:pPr>
            <a:r>
              <a:rPr lang="en-US" b="true" sz="6000">
                <a:solidFill>
                  <a:srgbClr val="3C5366"/>
                </a:solidFill>
                <a:latin typeface="Inter Bold"/>
                <a:ea typeface="Inter Bold"/>
                <a:cs typeface="Inter Bold"/>
                <a:sym typeface="Inter Bold"/>
              </a:rPr>
              <a:t>Introduction</a:t>
            </a:r>
          </a:p>
        </p:txBody>
      </p:sp>
      <p:sp>
        <p:nvSpPr>
          <p:cNvPr name="TextBox 7" id="7"/>
          <p:cNvSpPr txBox="true"/>
          <p:nvPr/>
        </p:nvSpPr>
        <p:spPr>
          <a:xfrm rot="0">
            <a:off x="1240231" y="2124075"/>
            <a:ext cx="16019069" cy="6048375"/>
          </a:xfrm>
          <a:prstGeom prst="rect">
            <a:avLst/>
          </a:prstGeom>
        </p:spPr>
        <p:txBody>
          <a:bodyPr anchor="t" rtlCol="false" tIns="0" lIns="0" bIns="0" rIns="0">
            <a:spAutoFit/>
          </a:bodyPr>
          <a:lstStyle/>
          <a:p>
            <a:pPr algn="l">
              <a:lnSpc>
                <a:spcPts val="3984"/>
              </a:lnSpc>
              <a:spcBef>
                <a:spcPct val="0"/>
              </a:spcBef>
            </a:pPr>
          </a:p>
          <a:p>
            <a:pPr algn="l">
              <a:lnSpc>
                <a:spcPts val="3984"/>
              </a:lnSpc>
              <a:spcBef>
                <a:spcPct val="0"/>
              </a:spcBef>
            </a:pPr>
            <a:r>
              <a:rPr lang="en-US" sz="3320">
                <a:solidFill>
                  <a:srgbClr val="3C5366"/>
                </a:solidFill>
                <a:latin typeface="Inter"/>
                <a:ea typeface="Inter"/>
                <a:cs typeface="Inter"/>
                <a:sym typeface="Inter"/>
              </a:rPr>
              <a:t>This analysis examines the financial health of 16,208 Canadian households based on 2022 survey data. The study reveals significant wealth accumulation patterns, debt structures, and demographic correlations across age groups, education levels, and geographic regions.</a:t>
            </a:r>
          </a:p>
          <a:p>
            <a:pPr algn="just">
              <a:lnSpc>
                <a:spcPts val="3984"/>
              </a:lnSpc>
              <a:spcBef>
                <a:spcPct val="0"/>
              </a:spcBef>
            </a:pPr>
            <a:r>
              <a:rPr lang="en-US" b="true" sz="3320">
                <a:solidFill>
                  <a:srgbClr val="3C5366"/>
                </a:solidFill>
                <a:latin typeface="Inter Bold"/>
                <a:ea typeface="Inter Bold"/>
                <a:cs typeface="Inter Bold"/>
                <a:sym typeface="Inter Bold"/>
              </a:rPr>
              <a:t>Key Findings:</a:t>
            </a:r>
          </a:p>
          <a:p>
            <a:pPr algn="l">
              <a:lnSpc>
                <a:spcPts val="3984"/>
              </a:lnSpc>
              <a:spcBef>
                <a:spcPct val="0"/>
              </a:spcBef>
            </a:pPr>
            <a:r>
              <a:rPr lang="en-US" sz="3320">
                <a:solidFill>
                  <a:srgbClr val="3C5366"/>
                </a:solidFill>
                <a:latin typeface="Inter"/>
                <a:ea typeface="Inter"/>
                <a:cs typeface="Inter"/>
                <a:sym typeface="Inter"/>
              </a:rPr>
              <a:t>Median household net worth: 902,500</a:t>
            </a:r>
          </a:p>
          <a:p>
            <a:pPr algn="l">
              <a:lnSpc>
                <a:spcPts val="3984"/>
              </a:lnSpc>
              <a:spcBef>
                <a:spcPct val="0"/>
              </a:spcBef>
            </a:pPr>
            <a:r>
              <a:rPr lang="en-US" sz="3320">
                <a:solidFill>
                  <a:srgbClr val="3C5366"/>
                </a:solidFill>
                <a:latin typeface="Inter"/>
                <a:ea typeface="Inter"/>
                <a:cs typeface="Inter"/>
                <a:sym typeface="Inter"/>
              </a:rPr>
              <a:t>Mean after-tax income: 101,812</a:t>
            </a:r>
          </a:p>
          <a:p>
            <a:pPr algn="l">
              <a:lnSpc>
                <a:spcPts val="3984"/>
              </a:lnSpc>
              <a:spcBef>
                <a:spcPct val="0"/>
              </a:spcBef>
            </a:pPr>
            <a:r>
              <a:rPr lang="en-US" sz="3320">
                <a:solidFill>
                  <a:srgbClr val="3C5366"/>
                </a:solidFill>
                <a:latin typeface="Inter"/>
                <a:ea typeface="Inter"/>
                <a:cs typeface="Inter"/>
                <a:sym typeface="Inter"/>
              </a:rPr>
              <a:t>Home ownership is the primary driver of wealth inequality</a:t>
            </a:r>
          </a:p>
          <a:p>
            <a:pPr algn="l">
              <a:lnSpc>
                <a:spcPts val="3984"/>
              </a:lnSpc>
              <a:spcBef>
                <a:spcPct val="0"/>
              </a:spcBef>
            </a:pPr>
            <a:r>
              <a:rPr lang="en-US" sz="3320">
                <a:solidFill>
                  <a:srgbClr val="3C5366"/>
                </a:solidFill>
                <a:latin typeface="Inter"/>
                <a:ea typeface="Inter"/>
                <a:cs typeface="Inter"/>
                <a:sym typeface="Inter"/>
              </a:rPr>
              <a:t>University graduates hold 44% of households and show highest net worth</a:t>
            </a:r>
          </a:p>
          <a:p>
            <a:pPr algn="l">
              <a:lnSpc>
                <a:spcPts val="3984"/>
              </a:lnSpc>
              <a:spcBef>
                <a:spcPct val="0"/>
              </a:spcBef>
            </a:pPr>
            <a:r>
              <a:rPr lang="en-US" sz="3320">
                <a:solidFill>
                  <a:srgbClr val="3C5366"/>
                </a:solidFill>
                <a:latin typeface="Inter"/>
                <a:ea typeface="Inter"/>
                <a:cs typeface="Inter"/>
                <a:sym typeface="Inter"/>
              </a:rPr>
              <a:t>66% of households demonstrate good financial health through full credit card payments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724224" y="300009"/>
            <a:ext cx="2116979" cy="590055"/>
          </a:xfrm>
          <a:custGeom>
            <a:avLst/>
            <a:gdLst/>
            <a:ahLst/>
            <a:cxnLst/>
            <a:rect r="r" b="b" t="t" l="l"/>
            <a:pathLst>
              <a:path h="590055" w="2116979">
                <a:moveTo>
                  <a:pt x="0" y="0"/>
                </a:moveTo>
                <a:lnTo>
                  <a:pt x="2116979" y="0"/>
                </a:lnTo>
                <a:lnTo>
                  <a:pt x="2116979" y="590055"/>
                </a:lnTo>
                <a:lnTo>
                  <a:pt x="0" y="5900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061999" y="9207998"/>
            <a:ext cx="778593" cy="803405"/>
          </a:xfrm>
          <a:custGeom>
            <a:avLst/>
            <a:gdLst/>
            <a:ahLst/>
            <a:cxnLst/>
            <a:rect r="r" b="b" t="t" l="l"/>
            <a:pathLst>
              <a:path h="803405" w="778593">
                <a:moveTo>
                  <a:pt x="0" y="0"/>
                </a:moveTo>
                <a:lnTo>
                  <a:pt x="778593" y="0"/>
                </a:lnTo>
                <a:lnTo>
                  <a:pt x="778593" y="803406"/>
                </a:lnTo>
                <a:lnTo>
                  <a:pt x="0" y="8034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382863" y="2279785"/>
            <a:ext cx="8876437" cy="5802971"/>
          </a:xfrm>
          <a:custGeom>
            <a:avLst/>
            <a:gdLst/>
            <a:ahLst/>
            <a:cxnLst/>
            <a:rect r="r" b="b" t="t" l="l"/>
            <a:pathLst>
              <a:path h="5802971" w="8876437">
                <a:moveTo>
                  <a:pt x="0" y="0"/>
                </a:moveTo>
                <a:lnTo>
                  <a:pt x="8876437" y="0"/>
                </a:lnTo>
                <a:lnTo>
                  <a:pt x="8876437" y="5802971"/>
                </a:lnTo>
                <a:lnTo>
                  <a:pt x="0" y="5802971"/>
                </a:lnTo>
                <a:lnTo>
                  <a:pt x="0" y="0"/>
                </a:lnTo>
                <a:close/>
              </a:path>
            </a:pathLst>
          </a:custGeom>
          <a:blipFill>
            <a:blip r:embed="rId7"/>
            <a:stretch>
              <a:fillRect l="0" t="0" r="0" b="0"/>
            </a:stretch>
          </a:blipFill>
        </p:spPr>
      </p:sp>
      <p:sp>
        <p:nvSpPr>
          <p:cNvPr name="TextBox 7" id="7"/>
          <p:cNvSpPr txBox="true"/>
          <p:nvPr/>
        </p:nvSpPr>
        <p:spPr>
          <a:xfrm rot="0">
            <a:off x="5977830" y="890064"/>
            <a:ext cx="6332339" cy="2743200"/>
          </a:xfrm>
          <a:prstGeom prst="rect">
            <a:avLst/>
          </a:prstGeom>
        </p:spPr>
        <p:txBody>
          <a:bodyPr anchor="t" rtlCol="false" tIns="0" lIns="0" bIns="0" rIns="0">
            <a:spAutoFit/>
          </a:bodyPr>
          <a:lstStyle/>
          <a:p>
            <a:pPr algn="ctr">
              <a:lnSpc>
                <a:spcPts val="7200"/>
              </a:lnSpc>
            </a:pPr>
            <a:r>
              <a:rPr lang="en-US" b="true" sz="6000" spc="-108">
                <a:solidFill>
                  <a:srgbClr val="3C5366"/>
                </a:solidFill>
                <a:latin typeface="Inter Bold"/>
                <a:ea typeface="Inter Bold"/>
                <a:cs typeface="Inter Bold"/>
                <a:sym typeface="Inter Bold"/>
              </a:rPr>
              <a:t>Dataset Overview</a:t>
            </a:r>
          </a:p>
          <a:p>
            <a:pPr algn="ctr">
              <a:lnSpc>
                <a:spcPts val="7200"/>
              </a:lnSpc>
            </a:pPr>
          </a:p>
          <a:p>
            <a:pPr algn="ctr">
              <a:lnSpc>
                <a:spcPts val="7200"/>
              </a:lnSpc>
            </a:pPr>
          </a:p>
        </p:txBody>
      </p:sp>
      <p:sp>
        <p:nvSpPr>
          <p:cNvPr name="TextBox 8" id="8"/>
          <p:cNvSpPr txBox="true"/>
          <p:nvPr/>
        </p:nvSpPr>
        <p:spPr>
          <a:xfrm rot="0">
            <a:off x="899438" y="1028700"/>
            <a:ext cx="7483425" cy="9591675"/>
          </a:xfrm>
          <a:prstGeom prst="rect">
            <a:avLst/>
          </a:prstGeom>
        </p:spPr>
        <p:txBody>
          <a:bodyPr anchor="t" rtlCol="false" tIns="0" lIns="0" bIns="0" rIns="0">
            <a:spAutoFit/>
          </a:bodyPr>
          <a:lstStyle/>
          <a:p>
            <a:pPr algn="l">
              <a:lnSpc>
                <a:spcPts val="5184"/>
              </a:lnSpc>
            </a:pPr>
          </a:p>
          <a:p>
            <a:pPr algn="l" marL="652028" indent="-326014" lvl="1">
              <a:lnSpc>
                <a:spcPts val="3624"/>
              </a:lnSpc>
              <a:buFont typeface="Arial"/>
              <a:buChar char="•"/>
            </a:pPr>
            <a:r>
              <a:rPr lang="en-US" sz="3020">
                <a:solidFill>
                  <a:srgbClr val="3C5366"/>
                </a:solidFill>
                <a:latin typeface="Inter"/>
                <a:ea typeface="Inter"/>
                <a:cs typeface="Inter"/>
                <a:sym typeface="Inter"/>
              </a:rPr>
              <a:t>Source: Personal Finance Case Dataset (2022)</a:t>
            </a:r>
          </a:p>
          <a:p>
            <a:pPr algn="l" marL="652028" indent="-326014" lvl="1">
              <a:lnSpc>
                <a:spcPts val="3624"/>
              </a:lnSpc>
              <a:buFont typeface="Arial"/>
              <a:buChar char="•"/>
            </a:pPr>
            <a:r>
              <a:rPr lang="en-US" sz="3020">
                <a:solidFill>
                  <a:srgbClr val="3C5366"/>
                </a:solidFill>
                <a:latin typeface="Inter"/>
                <a:ea typeface="Inter"/>
                <a:cs typeface="Inter"/>
                <a:sym typeface="Inter"/>
              </a:rPr>
              <a:t>Sample Size: 16,241 households → 16,208 after outlier removal</a:t>
            </a:r>
          </a:p>
          <a:p>
            <a:pPr algn="l" marL="652028" indent="-326014" lvl="1">
              <a:lnSpc>
                <a:spcPts val="3624"/>
              </a:lnSpc>
              <a:buFont typeface="Arial"/>
              <a:buChar char="•"/>
            </a:pPr>
            <a:r>
              <a:rPr lang="en-US" sz="3020">
                <a:solidFill>
                  <a:srgbClr val="3C5366"/>
                </a:solidFill>
                <a:latin typeface="Inter"/>
                <a:ea typeface="Inter"/>
                <a:cs typeface="Inter"/>
                <a:sym typeface="Inter"/>
              </a:rPr>
              <a:t>Coverage: All 10 Canadian provinces</a:t>
            </a:r>
          </a:p>
          <a:p>
            <a:pPr algn="l">
              <a:lnSpc>
                <a:spcPts val="3624"/>
              </a:lnSpc>
            </a:pPr>
            <a:r>
              <a:rPr lang="en-US" sz="3020">
                <a:solidFill>
                  <a:srgbClr val="3C5366"/>
                </a:solidFill>
                <a:latin typeface="Inter"/>
                <a:ea typeface="Inter"/>
                <a:cs typeface="Inter"/>
                <a:sym typeface="Inter"/>
              </a:rPr>
              <a:t>      </a:t>
            </a:r>
            <a:r>
              <a:rPr lang="en-US" sz="3020">
                <a:solidFill>
                  <a:srgbClr val="3C5366"/>
                </a:solidFill>
                <a:latin typeface="Inter"/>
                <a:ea typeface="Inter"/>
                <a:cs typeface="Inter"/>
                <a:sym typeface="Inter"/>
              </a:rPr>
              <a:t>Age Range: Under 25 to 80+</a:t>
            </a:r>
          </a:p>
          <a:p>
            <a:pPr algn="l">
              <a:lnSpc>
                <a:spcPts val="3624"/>
              </a:lnSpc>
            </a:pPr>
          </a:p>
          <a:p>
            <a:pPr algn="l">
              <a:lnSpc>
                <a:spcPts val="3624"/>
              </a:lnSpc>
            </a:pPr>
            <a:r>
              <a:rPr lang="en-US" sz="3020">
                <a:solidFill>
                  <a:srgbClr val="3C5366"/>
                </a:solidFill>
                <a:latin typeface="Inter"/>
                <a:ea typeface="Inter"/>
                <a:cs typeface="Inter"/>
                <a:sym typeface="Inter"/>
              </a:rPr>
              <a:t>      </a:t>
            </a:r>
            <a:r>
              <a:rPr lang="en-US" sz="3020">
                <a:solidFill>
                  <a:srgbClr val="3C5366"/>
                </a:solidFill>
                <a:latin typeface="Inter"/>
                <a:ea typeface="Inter"/>
                <a:cs typeface="Inter"/>
                <a:sym typeface="Inter"/>
              </a:rPr>
              <a:t>Variables (19 total):</a:t>
            </a:r>
          </a:p>
          <a:p>
            <a:pPr algn="l" marL="652028" indent="-326014" lvl="1">
              <a:lnSpc>
                <a:spcPts val="3624"/>
              </a:lnSpc>
              <a:buFont typeface="Arial"/>
              <a:buChar char="•"/>
            </a:pPr>
            <a:r>
              <a:rPr lang="en-US" sz="3020">
                <a:solidFill>
                  <a:srgbClr val="3C5366"/>
                </a:solidFill>
                <a:latin typeface="Inter"/>
                <a:ea typeface="Inter"/>
                <a:cs typeface="Inter"/>
                <a:sym typeface="Inter"/>
              </a:rPr>
              <a:t>Financial: Income, assets, debt, net worth</a:t>
            </a:r>
          </a:p>
          <a:p>
            <a:pPr algn="l" marL="652028" indent="-326014" lvl="1">
              <a:lnSpc>
                <a:spcPts val="3624"/>
              </a:lnSpc>
              <a:buFont typeface="Arial"/>
              <a:buChar char="•"/>
            </a:pPr>
            <a:r>
              <a:rPr lang="en-US" sz="3020">
                <a:solidFill>
                  <a:srgbClr val="3C5366"/>
                </a:solidFill>
                <a:latin typeface="Inter"/>
                <a:ea typeface="Inter"/>
                <a:cs typeface="Inter"/>
                <a:sym typeface="Inter"/>
              </a:rPr>
              <a:t>Demographic: Education, family type, employment status</a:t>
            </a:r>
          </a:p>
          <a:p>
            <a:pPr algn="l">
              <a:lnSpc>
                <a:spcPts val="3624"/>
              </a:lnSpc>
            </a:pPr>
          </a:p>
          <a:p>
            <a:pPr algn="l" marL="652028" indent="-326014" lvl="1">
              <a:lnSpc>
                <a:spcPts val="3624"/>
              </a:lnSpc>
              <a:buFont typeface="Arial"/>
              <a:buChar char="•"/>
            </a:pPr>
            <a:r>
              <a:rPr lang="en-US" sz="3020">
                <a:solidFill>
                  <a:srgbClr val="3C5366"/>
                </a:solidFill>
                <a:latin typeface="Inter"/>
                <a:ea typeface="Inter"/>
                <a:cs typeface="Inter"/>
                <a:sym typeface="Inter"/>
              </a:rPr>
              <a:t>Data Quality:</a:t>
            </a:r>
          </a:p>
          <a:p>
            <a:pPr algn="l" marL="652028" indent="-326014" lvl="1">
              <a:lnSpc>
                <a:spcPts val="3624"/>
              </a:lnSpc>
              <a:buFont typeface="Arial"/>
              <a:buChar char="•"/>
            </a:pPr>
            <a:r>
              <a:rPr lang="en-US" sz="3020">
                <a:solidFill>
                  <a:srgbClr val="3C5366"/>
                </a:solidFill>
                <a:latin typeface="Inter"/>
                <a:ea typeface="Inter"/>
                <a:cs typeface="Inter"/>
                <a:sym typeface="Inter"/>
              </a:rPr>
              <a:t>No missing values</a:t>
            </a:r>
          </a:p>
          <a:p>
            <a:pPr algn="l" marL="652028" indent="-326014" lvl="1">
              <a:lnSpc>
                <a:spcPts val="3624"/>
              </a:lnSpc>
              <a:spcBef>
                <a:spcPct val="0"/>
              </a:spcBef>
              <a:buFont typeface="Arial"/>
              <a:buChar char="•"/>
            </a:pPr>
            <a:r>
              <a:rPr lang="en-US" sz="3020">
                <a:solidFill>
                  <a:srgbClr val="3C5366"/>
                </a:solidFill>
                <a:latin typeface="Inter"/>
                <a:ea typeface="Inter"/>
                <a:cs typeface="Inter"/>
                <a:sym typeface="Inter"/>
              </a:rPr>
              <a:t>100% completeness across all variables</a:t>
            </a:r>
          </a:p>
          <a:p>
            <a:pPr algn="l">
              <a:lnSpc>
                <a:spcPts val="3624"/>
              </a:lnSpc>
              <a:spcBef>
                <a:spcPct val="0"/>
              </a:spcBef>
            </a:pPr>
          </a:p>
          <a:p>
            <a:pPr algn="l">
              <a:lnSpc>
                <a:spcPts val="2784"/>
              </a:lnSpc>
              <a:spcBef>
                <a:spcPct val="0"/>
              </a:spcBef>
            </a:pPr>
          </a:p>
          <a:p>
            <a:pPr algn="l">
              <a:lnSpc>
                <a:spcPts val="2784"/>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5" y="596605"/>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52989" y="2883359"/>
            <a:ext cx="8827479" cy="4413739"/>
          </a:xfrm>
          <a:custGeom>
            <a:avLst/>
            <a:gdLst/>
            <a:ahLst/>
            <a:cxnLst/>
            <a:rect r="r" b="b" t="t" l="l"/>
            <a:pathLst>
              <a:path h="4413739" w="8827479">
                <a:moveTo>
                  <a:pt x="0" y="0"/>
                </a:moveTo>
                <a:lnTo>
                  <a:pt x="8827479" y="0"/>
                </a:lnTo>
                <a:lnTo>
                  <a:pt x="8827479" y="4413739"/>
                </a:lnTo>
                <a:lnTo>
                  <a:pt x="0" y="4413739"/>
                </a:lnTo>
                <a:lnTo>
                  <a:pt x="0" y="0"/>
                </a:lnTo>
                <a:close/>
              </a:path>
            </a:pathLst>
          </a:custGeom>
          <a:blipFill>
            <a:blip r:embed="rId7"/>
            <a:stretch>
              <a:fillRect l="0" t="0" r="0" b="0"/>
            </a:stretch>
          </a:blipFill>
        </p:spPr>
      </p:sp>
      <p:sp>
        <p:nvSpPr>
          <p:cNvPr name="TextBox 7" id="7"/>
          <p:cNvSpPr txBox="true"/>
          <p:nvPr/>
        </p:nvSpPr>
        <p:spPr>
          <a:xfrm rot="0">
            <a:off x="1531425" y="1038225"/>
            <a:ext cx="15225151" cy="2838450"/>
          </a:xfrm>
          <a:prstGeom prst="rect">
            <a:avLst/>
          </a:prstGeom>
        </p:spPr>
        <p:txBody>
          <a:bodyPr anchor="t" rtlCol="false" tIns="0" lIns="0" bIns="0" rIns="0">
            <a:spAutoFit/>
          </a:bodyPr>
          <a:lstStyle/>
          <a:p>
            <a:pPr algn="ctr">
              <a:lnSpc>
                <a:spcPts val="6480"/>
              </a:lnSpc>
            </a:pPr>
            <a:r>
              <a:rPr lang="en-US" b="true" sz="5400" spc="-97">
                <a:solidFill>
                  <a:srgbClr val="3C5366"/>
                </a:solidFill>
                <a:latin typeface="Inter Bold"/>
                <a:ea typeface="Inter Bold"/>
                <a:cs typeface="Inter Bold"/>
                <a:sym typeface="Inter Bold"/>
              </a:rPr>
              <a:t>Net</a:t>
            </a:r>
            <a:r>
              <a:rPr lang="en-US" b="true" sz="5400" spc="-97">
                <a:solidFill>
                  <a:srgbClr val="3C5366"/>
                </a:solidFill>
                <a:latin typeface="Inter Bold"/>
                <a:ea typeface="Inter Bold"/>
                <a:cs typeface="Inter Bold"/>
                <a:sym typeface="Inter Bold"/>
              </a:rPr>
              <a:t> Worth by Age Group</a:t>
            </a:r>
          </a:p>
          <a:p>
            <a:pPr algn="ctr">
              <a:lnSpc>
                <a:spcPts val="3120"/>
              </a:lnSpc>
            </a:pPr>
            <a:r>
              <a:rPr lang="en-US" sz="2600" spc="-46">
                <a:solidFill>
                  <a:srgbClr val="3C5366"/>
                </a:solidFill>
                <a:latin typeface="Inter"/>
                <a:ea typeface="Inter"/>
                <a:cs typeface="Inter"/>
                <a:sym typeface="Inter"/>
              </a:rPr>
              <a:t>The analysis of net worth across age groups reveals clear life-cycle wealth accumulation patterns.</a:t>
            </a:r>
          </a:p>
          <a:p>
            <a:pPr algn="ctr">
              <a:lnSpc>
                <a:spcPts val="6480"/>
              </a:lnSpc>
            </a:pPr>
          </a:p>
          <a:p>
            <a:pPr algn="ctr">
              <a:lnSpc>
                <a:spcPts val="6480"/>
              </a:lnSpc>
            </a:pPr>
          </a:p>
        </p:txBody>
      </p:sp>
      <p:sp>
        <p:nvSpPr>
          <p:cNvPr name="TextBox 8" id="8"/>
          <p:cNvSpPr txBox="true"/>
          <p:nvPr/>
        </p:nvSpPr>
        <p:spPr>
          <a:xfrm rot="0">
            <a:off x="9856408" y="2883359"/>
            <a:ext cx="7517298" cy="5695950"/>
          </a:xfrm>
          <a:prstGeom prst="rect">
            <a:avLst/>
          </a:prstGeom>
        </p:spPr>
        <p:txBody>
          <a:bodyPr anchor="t" rtlCol="false" tIns="0" lIns="0" bIns="0" rIns="0">
            <a:spAutoFit/>
          </a:bodyPr>
          <a:lstStyle/>
          <a:p>
            <a:pPr algn="just">
              <a:lnSpc>
                <a:spcPts val="3359"/>
              </a:lnSpc>
            </a:pPr>
            <a:r>
              <a:rPr lang="en-US" b="true" sz="2799" spc="-13">
                <a:solidFill>
                  <a:srgbClr val="3C5366"/>
                </a:solidFill>
                <a:latin typeface="Inter Bold"/>
                <a:ea typeface="Inter Bold"/>
                <a:cs typeface="Inter Bold"/>
                <a:sym typeface="Inter Bold"/>
              </a:rPr>
              <a:t>Key Observations:</a:t>
            </a:r>
          </a:p>
          <a:p>
            <a:pPr algn="just" marL="604515" indent="-302257" lvl="1">
              <a:lnSpc>
                <a:spcPts val="3359"/>
              </a:lnSpc>
              <a:buFont typeface="Arial"/>
              <a:buChar char="•"/>
            </a:pPr>
            <a:r>
              <a:rPr lang="en-US" sz="2799" spc="-13">
                <a:solidFill>
                  <a:srgbClr val="3C5366"/>
                </a:solidFill>
                <a:latin typeface="Inter"/>
                <a:ea typeface="Inter"/>
                <a:cs typeface="Inter"/>
                <a:sym typeface="Inter"/>
              </a:rPr>
              <a:t>Lif</a:t>
            </a:r>
            <a:r>
              <a:rPr lang="en-US" sz="2799" spc="-13">
                <a:solidFill>
                  <a:srgbClr val="3C5366"/>
                </a:solidFill>
                <a:latin typeface="Inter"/>
                <a:ea typeface="Inter"/>
                <a:cs typeface="Inter"/>
                <a:sym typeface="Inter"/>
              </a:rPr>
              <a:t>e-Cycle Accumulation:</a:t>
            </a:r>
          </a:p>
          <a:p>
            <a:pPr algn="just">
              <a:lnSpc>
                <a:spcPts val="3359"/>
              </a:lnSpc>
            </a:pPr>
            <a:r>
              <a:rPr lang="en-US" sz="2799" spc="-13">
                <a:solidFill>
                  <a:srgbClr val="3C5366"/>
                </a:solidFill>
                <a:latin typeface="Inter"/>
                <a:ea typeface="Inter"/>
                <a:cs typeface="Inter"/>
                <a:sym typeface="Inter"/>
              </a:rPr>
              <a:t>   </a:t>
            </a:r>
            <a:r>
              <a:rPr lang="en-US" sz="2799" spc="-13">
                <a:solidFill>
                  <a:srgbClr val="3C5366"/>
                </a:solidFill>
                <a:latin typeface="Inter"/>
                <a:ea typeface="Inter"/>
                <a:cs typeface="Inter"/>
                <a:sym typeface="Inter"/>
              </a:rPr>
              <a:t>Net worth rises steadily during working years, with the fastest growth in mid-career.</a:t>
            </a:r>
          </a:p>
          <a:p>
            <a:pPr algn="just" marL="604515" indent="-302257" lvl="1">
              <a:lnSpc>
                <a:spcPts val="3359"/>
              </a:lnSpc>
              <a:buFont typeface="Arial"/>
              <a:buChar char="•"/>
            </a:pPr>
            <a:r>
              <a:rPr lang="en-US" sz="2799" spc="-13">
                <a:solidFill>
                  <a:srgbClr val="3C5366"/>
                </a:solidFill>
                <a:latin typeface="Inter"/>
                <a:ea typeface="Inter"/>
                <a:cs typeface="Inter"/>
                <a:sym typeface="Inter"/>
              </a:rPr>
              <a:t>Peak then Preserve:</a:t>
            </a:r>
          </a:p>
          <a:p>
            <a:pPr algn="just">
              <a:lnSpc>
                <a:spcPts val="3359"/>
              </a:lnSpc>
            </a:pPr>
            <a:r>
              <a:rPr lang="en-US" sz="2799" spc="-13">
                <a:solidFill>
                  <a:srgbClr val="3C5366"/>
                </a:solidFill>
                <a:latin typeface="Inter"/>
                <a:ea typeface="Inter"/>
                <a:cs typeface="Inter"/>
                <a:sym typeface="Inter"/>
              </a:rPr>
              <a:t>  </a:t>
            </a:r>
            <a:r>
              <a:rPr lang="en-US" sz="2799" spc="-13">
                <a:solidFill>
                  <a:srgbClr val="3C5366"/>
                </a:solidFill>
                <a:latin typeface="Inter"/>
                <a:ea typeface="Inter"/>
                <a:cs typeface="Inter"/>
                <a:sym typeface="Inter"/>
              </a:rPr>
              <a:t>Wealth peaks before retirement and remains high afterward, followed by a gradual decline at older ages.</a:t>
            </a:r>
          </a:p>
          <a:p>
            <a:pPr algn="just" marL="604515" indent="-302257" lvl="1">
              <a:lnSpc>
                <a:spcPts val="3359"/>
              </a:lnSpc>
              <a:buFont typeface="Arial"/>
              <a:buChar char="•"/>
            </a:pPr>
            <a:r>
              <a:rPr lang="en-US" sz="2799" spc="-13">
                <a:solidFill>
                  <a:srgbClr val="3C5366"/>
                </a:solidFill>
                <a:latin typeface="Inter"/>
                <a:ea typeface="Inter"/>
                <a:cs typeface="Inter"/>
                <a:sym typeface="Inter"/>
              </a:rPr>
              <a:t>Early-Age Outlier:</a:t>
            </a:r>
          </a:p>
          <a:p>
            <a:pPr algn="just">
              <a:lnSpc>
                <a:spcPts val="3359"/>
              </a:lnSpc>
            </a:pPr>
            <a:r>
              <a:rPr lang="en-US" sz="2799" spc="-13">
                <a:solidFill>
                  <a:srgbClr val="3C5366"/>
                </a:solidFill>
                <a:latin typeface="Inter"/>
                <a:ea typeface="Inter"/>
                <a:cs typeface="Inter"/>
                <a:sym typeface="Inter"/>
              </a:rPr>
              <a:t>  </a:t>
            </a:r>
            <a:r>
              <a:rPr lang="en-US" sz="2799" spc="-13">
                <a:solidFill>
                  <a:srgbClr val="3C5366"/>
                </a:solidFill>
                <a:latin typeface="Inter"/>
                <a:ea typeface="Inter"/>
                <a:cs typeface="Inter"/>
                <a:sym typeface="Inter"/>
              </a:rPr>
              <a:t>Younger households show unexpectedly high net worth, likely driven by family support rather than earned income.</a:t>
            </a:r>
          </a:p>
          <a:p>
            <a:pPr algn="just">
              <a:lnSpc>
                <a:spcPts val="2639"/>
              </a:lnSpc>
            </a:pPr>
          </a:p>
          <a:p>
            <a:pPr algn="ctr">
              <a:lnSpc>
                <a:spcPts val="26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626698" y="523492"/>
            <a:ext cx="17034603" cy="8987247"/>
            <a:chOff x="0" y="0"/>
            <a:chExt cx="22712804" cy="11982996"/>
          </a:xfrm>
        </p:grpSpPr>
        <p:sp>
          <p:nvSpPr>
            <p:cNvPr name="Freeform 3" id="3"/>
            <p:cNvSpPr/>
            <p:nvPr/>
          </p:nvSpPr>
          <p:spPr>
            <a:xfrm flipH="false" flipV="false" rot="0">
              <a:off x="0" y="0"/>
              <a:ext cx="22712842" cy="11982958"/>
            </a:xfrm>
            <a:custGeom>
              <a:avLst/>
              <a:gdLst/>
              <a:ahLst/>
              <a:cxnLst/>
              <a:rect r="r" b="b" t="t" l="l"/>
              <a:pathLst>
                <a:path h="11982958" w="22712842">
                  <a:moveTo>
                    <a:pt x="12833" y="0"/>
                  </a:moveTo>
                  <a:lnTo>
                    <a:pt x="22700010" y="0"/>
                  </a:lnTo>
                  <a:cubicBezTo>
                    <a:pt x="22707068" y="0"/>
                    <a:pt x="22712842" y="5715"/>
                    <a:pt x="22712842" y="12700"/>
                  </a:cubicBezTo>
                  <a:lnTo>
                    <a:pt x="22712842" y="11970258"/>
                  </a:lnTo>
                  <a:cubicBezTo>
                    <a:pt x="22712842" y="11977243"/>
                    <a:pt x="22707068" y="11982958"/>
                    <a:pt x="22700010" y="11982958"/>
                  </a:cubicBezTo>
                  <a:lnTo>
                    <a:pt x="12833" y="11982958"/>
                  </a:lnTo>
                  <a:cubicBezTo>
                    <a:pt x="5775" y="11982958"/>
                    <a:pt x="0" y="11977243"/>
                    <a:pt x="0" y="11970258"/>
                  </a:cubicBezTo>
                  <a:lnTo>
                    <a:pt x="0" y="12700"/>
                  </a:lnTo>
                  <a:cubicBezTo>
                    <a:pt x="0" y="5715"/>
                    <a:pt x="5775" y="0"/>
                    <a:pt x="12833" y="0"/>
                  </a:cubicBezTo>
                  <a:moveTo>
                    <a:pt x="12833" y="25400"/>
                  </a:moveTo>
                  <a:lnTo>
                    <a:pt x="12833" y="12700"/>
                  </a:lnTo>
                  <a:lnTo>
                    <a:pt x="25665" y="12700"/>
                  </a:lnTo>
                  <a:lnTo>
                    <a:pt x="25665" y="11970258"/>
                  </a:lnTo>
                  <a:lnTo>
                    <a:pt x="12833" y="11970258"/>
                  </a:lnTo>
                  <a:lnTo>
                    <a:pt x="12833" y="11957558"/>
                  </a:lnTo>
                  <a:lnTo>
                    <a:pt x="22700010" y="11957558"/>
                  </a:lnTo>
                  <a:lnTo>
                    <a:pt x="22700010" y="11970258"/>
                  </a:lnTo>
                  <a:lnTo>
                    <a:pt x="22687176" y="11970258"/>
                  </a:lnTo>
                  <a:lnTo>
                    <a:pt x="22687176" y="12700"/>
                  </a:lnTo>
                  <a:lnTo>
                    <a:pt x="22700010" y="12700"/>
                  </a:lnTo>
                  <a:lnTo>
                    <a:pt x="22700010" y="25400"/>
                  </a:lnTo>
                  <a:lnTo>
                    <a:pt x="12833"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696883" y="3395012"/>
            <a:ext cx="8964419" cy="4745031"/>
          </a:xfrm>
          <a:custGeom>
            <a:avLst/>
            <a:gdLst/>
            <a:ahLst/>
            <a:cxnLst/>
            <a:rect r="r" b="b" t="t" l="l"/>
            <a:pathLst>
              <a:path h="4745031" w="8964419">
                <a:moveTo>
                  <a:pt x="0" y="0"/>
                </a:moveTo>
                <a:lnTo>
                  <a:pt x="8964419" y="0"/>
                </a:lnTo>
                <a:lnTo>
                  <a:pt x="8964419" y="4745031"/>
                </a:lnTo>
                <a:lnTo>
                  <a:pt x="0" y="4745031"/>
                </a:lnTo>
                <a:lnTo>
                  <a:pt x="0" y="0"/>
                </a:lnTo>
                <a:close/>
              </a:path>
            </a:pathLst>
          </a:custGeom>
          <a:blipFill>
            <a:blip r:embed="rId7"/>
            <a:stretch>
              <a:fillRect l="0" t="0" r="-5336" b="0"/>
            </a:stretch>
          </a:blipFill>
        </p:spPr>
      </p:sp>
      <p:sp>
        <p:nvSpPr>
          <p:cNvPr name="TextBox 7" id="7"/>
          <p:cNvSpPr txBox="true"/>
          <p:nvPr/>
        </p:nvSpPr>
        <p:spPr>
          <a:xfrm rot="0">
            <a:off x="480441" y="795184"/>
            <a:ext cx="16820331" cy="2074545"/>
          </a:xfrm>
          <a:prstGeom prst="rect">
            <a:avLst/>
          </a:prstGeom>
        </p:spPr>
        <p:txBody>
          <a:bodyPr anchor="t" rtlCol="false" tIns="0" lIns="0" bIns="0" rIns="0">
            <a:spAutoFit/>
          </a:bodyPr>
          <a:lstStyle/>
          <a:p>
            <a:pPr algn="ctr">
              <a:lnSpc>
                <a:spcPts val="8280"/>
              </a:lnSpc>
            </a:pPr>
            <a:r>
              <a:rPr lang="en-US" b="true" sz="6000" spc="-108">
                <a:solidFill>
                  <a:srgbClr val="3C5366"/>
                </a:solidFill>
                <a:latin typeface="Arimo Bold"/>
                <a:ea typeface="Arimo Bold"/>
                <a:cs typeface="Arimo Bold"/>
                <a:sym typeface="Arimo Bold"/>
              </a:rPr>
              <a:t>Incom</a:t>
            </a:r>
            <a:r>
              <a:rPr lang="en-US" b="true" sz="6000" spc="-108">
                <a:solidFill>
                  <a:srgbClr val="3C5366"/>
                </a:solidFill>
                <a:latin typeface="Arimo Bold"/>
                <a:ea typeface="Arimo Bold"/>
                <a:cs typeface="Arimo Bold"/>
                <a:sym typeface="Arimo Bold"/>
              </a:rPr>
              <a:t>e Distribution Analysis</a:t>
            </a:r>
          </a:p>
          <a:p>
            <a:pPr algn="ctr">
              <a:lnSpc>
                <a:spcPts val="3840"/>
              </a:lnSpc>
            </a:pPr>
            <a:r>
              <a:rPr lang="en-US" sz="3200">
                <a:solidFill>
                  <a:srgbClr val="3C5366"/>
                </a:solidFill>
                <a:latin typeface="Arimo"/>
                <a:ea typeface="Arimo"/>
                <a:cs typeface="Arimo"/>
                <a:sym typeface="Arimo"/>
              </a:rPr>
              <a:t>Household after-tax income shows a different distribution pattern compared to net worth reflecting current earning capacity rather than accumulated wealth.</a:t>
            </a:r>
          </a:p>
        </p:txBody>
      </p:sp>
      <p:sp>
        <p:nvSpPr>
          <p:cNvPr name="TextBox 8" id="8"/>
          <p:cNvSpPr txBox="true"/>
          <p:nvPr/>
        </p:nvSpPr>
        <p:spPr>
          <a:xfrm rot="0">
            <a:off x="752989" y="3395012"/>
            <a:ext cx="7943894" cy="5838825"/>
          </a:xfrm>
          <a:prstGeom prst="rect">
            <a:avLst/>
          </a:prstGeom>
        </p:spPr>
        <p:txBody>
          <a:bodyPr anchor="t" rtlCol="false" tIns="0" lIns="0" bIns="0" rIns="0">
            <a:spAutoFit/>
          </a:bodyPr>
          <a:lstStyle/>
          <a:p>
            <a:pPr algn="l" marL="580378" indent="-290189" lvl="1">
              <a:lnSpc>
                <a:spcPts val="3225"/>
              </a:lnSpc>
              <a:spcBef>
                <a:spcPct val="0"/>
              </a:spcBef>
              <a:buFont typeface="Arial"/>
              <a:buChar char="•"/>
            </a:pPr>
            <a:r>
              <a:rPr lang="en-US" sz="2688">
                <a:solidFill>
                  <a:srgbClr val="3C5366"/>
                </a:solidFill>
                <a:latin typeface="Inter"/>
                <a:ea typeface="Inter"/>
                <a:cs typeface="Inter"/>
                <a:sym typeface="Inter"/>
              </a:rPr>
              <a:t>Right-Skewed Earnings:</a:t>
            </a:r>
          </a:p>
          <a:p>
            <a:pPr algn="l">
              <a:lnSpc>
                <a:spcPts val="3225"/>
              </a:lnSpc>
              <a:spcBef>
                <a:spcPct val="0"/>
              </a:spcBef>
            </a:pPr>
            <a:r>
              <a:rPr lang="en-US" sz="2688">
                <a:solidFill>
                  <a:srgbClr val="3C5366"/>
                </a:solidFill>
                <a:latin typeface="Inter"/>
                <a:ea typeface="Inter"/>
                <a:cs typeface="Inter"/>
                <a:sym typeface="Inter"/>
              </a:rPr>
              <a:t>    </a:t>
            </a:r>
            <a:r>
              <a:rPr lang="en-US" sz="2688">
                <a:solidFill>
                  <a:srgbClr val="3C5366"/>
                </a:solidFill>
                <a:latin typeface="Inter"/>
                <a:ea typeface="Inter"/>
                <a:cs typeface="Inter"/>
                <a:sym typeface="Inter"/>
              </a:rPr>
              <a:t> Household income is highly skewed, with a small share of high earners driving inequality.</a:t>
            </a:r>
          </a:p>
          <a:p>
            <a:pPr algn="l">
              <a:lnSpc>
                <a:spcPts val="3225"/>
              </a:lnSpc>
              <a:spcBef>
                <a:spcPct val="0"/>
              </a:spcBef>
            </a:pPr>
          </a:p>
          <a:p>
            <a:pPr algn="l" marL="580378" indent="-290189" lvl="1">
              <a:lnSpc>
                <a:spcPts val="3225"/>
              </a:lnSpc>
              <a:spcBef>
                <a:spcPct val="0"/>
              </a:spcBef>
              <a:buFont typeface="Arial"/>
              <a:buChar char="•"/>
            </a:pPr>
            <a:r>
              <a:rPr lang="en-US" sz="2688">
                <a:solidFill>
                  <a:srgbClr val="3C5366"/>
                </a:solidFill>
                <a:latin typeface="Inter"/>
                <a:ea typeface="Inter"/>
                <a:cs typeface="Inter"/>
                <a:sym typeface="Inter"/>
              </a:rPr>
              <a:t>Income ≠ Wealth:</a:t>
            </a:r>
          </a:p>
          <a:p>
            <a:pPr algn="l">
              <a:lnSpc>
                <a:spcPts val="3225"/>
              </a:lnSpc>
              <a:spcBef>
                <a:spcPct val="0"/>
              </a:spcBef>
            </a:pPr>
            <a:r>
              <a:rPr lang="en-US" sz="2688">
                <a:solidFill>
                  <a:srgbClr val="3C5366"/>
                </a:solidFill>
                <a:latin typeface="Inter"/>
                <a:ea typeface="Inter"/>
                <a:cs typeface="Inter"/>
                <a:sym typeface="Inter"/>
              </a:rPr>
              <a:t>    </a:t>
            </a:r>
            <a:r>
              <a:rPr lang="en-US" sz="2688">
                <a:solidFill>
                  <a:srgbClr val="3C5366"/>
                </a:solidFill>
                <a:latin typeface="Inter"/>
                <a:ea typeface="Inter"/>
                <a:cs typeface="Inter"/>
                <a:sym typeface="Inter"/>
              </a:rPr>
              <a:t> Many moderate-income households still build substantial wealth through homeownership and long-term saving.</a:t>
            </a:r>
          </a:p>
          <a:p>
            <a:pPr algn="l">
              <a:lnSpc>
                <a:spcPts val="3225"/>
              </a:lnSpc>
              <a:spcBef>
                <a:spcPct val="0"/>
              </a:spcBef>
            </a:pPr>
          </a:p>
          <a:p>
            <a:pPr algn="l" marL="580378" indent="-290189" lvl="1">
              <a:lnSpc>
                <a:spcPts val="3225"/>
              </a:lnSpc>
              <a:spcBef>
                <a:spcPct val="0"/>
              </a:spcBef>
              <a:buFont typeface="Arial"/>
              <a:buChar char="•"/>
            </a:pPr>
            <a:r>
              <a:rPr lang="en-US" sz="2688">
                <a:solidFill>
                  <a:srgbClr val="3C5366"/>
                </a:solidFill>
                <a:latin typeface="Inter"/>
                <a:ea typeface="Inter"/>
                <a:cs typeface="Inter"/>
                <a:sym typeface="Inter"/>
              </a:rPr>
              <a:t>Income Volatility:</a:t>
            </a:r>
          </a:p>
          <a:p>
            <a:pPr algn="l">
              <a:lnSpc>
                <a:spcPts val="3225"/>
              </a:lnSpc>
              <a:spcBef>
                <a:spcPct val="0"/>
              </a:spcBef>
            </a:pPr>
            <a:r>
              <a:rPr lang="en-US" sz="2688">
                <a:solidFill>
                  <a:srgbClr val="3C5366"/>
                </a:solidFill>
                <a:latin typeface="Inter"/>
                <a:ea typeface="Inter"/>
                <a:cs typeface="Inter"/>
                <a:sym typeface="Inter"/>
              </a:rPr>
              <a:t>      </a:t>
            </a:r>
            <a:r>
              <a:rPr lang="en-US" sz="2688">
                <a:solidFill>
                  <a:srgbClr val="3C5366"/>
                </a:solidFill>
                <a:latin typeface="Inter"/>
                <a:ea typeface="Inter"/>
                <a:cs typeface="Inter"/>
                <a:sym typeface="Inter"/>
              </a:rPr>
              <a:t>Negative incomes reflect business losses, highlighting the risk and variability of entrepreneurial earnings.</a:t>
            </a:r>
          </a:p>
          <a:p>
            <a:pPr algn="l">
              <a:lnSpc>
                <a:spcPts val="4065"/>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878008" y="2514911"/>
            <a:ext cx="5944128" cy="4673057"/>
          </a:xfrm>
          <a:custGeom>
            <a:avLst/>
            <a:gdLst/>
            <a:ahLst/>
            <a:cxnLst/>
            <a:rect r="r" b="b" t="t" l="l"/>
            <a:pathLst>
              <a:path h="4673057" w="5944128">
                <a:moveTo>
                  <a:pt x="0" y="0"/>
                </a:moveTo>
                <a:lnTo>
                  <a:pt x="5944129" y="0"/>
                </a:lnTo>
                <a:lnTo>
                  <a:pt x="5944129" y="4673057"/>
                </a:lnTo>
                <a:lnTo>
                  <a:pt x="0" y="4673057"/>
                </a:lnTo>
                <a:lnTo>
                  <a:pt x="0" y="0"/>
                </a:lnTo>
                <a:close/>
              </a:path>
            </a:pathLst>
          </a:custGeom>
          <a:blipFill>
            <a:blip r:embed="rId7"/>
            <a:stretch>
              <a:fillRect l="0" t="0" r="0" b="0"/>
            </a:stretch>
          </a:blipFill>
        </p:spPr>
      </p:sp>
      <p:sp>
        <p:nvSpPr>
          <p:cNvPr name="Freeform 7" id="7"/>
          <p:cNvSpPr/>
          <p:nvPr/>
        </p:nvSpPr>
        <p:spPr>
          <a:xfrm flipH="false" flipV="false" rot="0">
            <a:off x="2309658" y="2514911"/>
            <a:ext cx="5944128" cy="4673057"/>
          </a:xfrm>
          <a:custGeom>
            <a:avLst/>
            <a:gdLst/>
            <a:ahLst/>
            <a:cxnLst/>
            <a:rect r="r" b="b" t="t" l="l"/>
            <a:pathLst>
              <a:path h="4673057" w="5944128">
                <a:moveTo>
                  <a:pt x="0" y="0"/>
                </a:moveTo>
                <a:lnTo>
                  <a:pt x="5944129" y="0"/>
                </a:lnTo>
                <a:lnTo>
                  <a:pt x="5944129" y="4673057"/>
                </a:lnTo>
                <a:lnTo>
                  <a:pt x="0" y="4673057"/>
                </a:lnTo>
                <a:lnTo>
                  <a:pt x="0" y="0"/>
                </a:lnTo>
                <a:close/>
              </a:path>
            </a:pathLst>
          </a:custGeom>
          <a:blipFill>
            <a:blip r:embed="rId8"/>
            <a:stretch>
              <a:fillRect l="0" t="0" r="0" b="0"/>
            </a:stretch>
          </a:blipFill>
        </p:spPr>
      </p:sp>
      <p:sp>
        <p:nvSpPr>
          <p:cNvPr name="TextBox 8" id="8"/>
          <p:cNvSpPr txBox="true"/>
          <p:nvPr/>
        </p:nvSpPr>
        <p:spPr>
          <a:xfrm rot="0">
            <a:off x="714670" y="842409"/>
            <a:ext cx="16697057" cy="1788196"/>
          </a:xfrm>
          <a:prstGeom prst="rect">
            <a:avLst/>
          </a:prstGeom>
        </p:spPr>
        <p:txBody>
          <a:bodyPr anchor="t" rtlCol="false" tIns="0" lIns="0" bIns="0" rIns="0">
            <a:spAutoFit/>
          </a:bodyPr>
          <a:lstStyle/>
          <a:p>
            <a:pPr algn="ctr">
              <a:lnSpc>
                <a:spcPts val="8280"/>
              </a:lnSpc>
            </a:pPr>
            <a:r>
              <a:rPr lang="en-US" b="true" sz="6000" spc="-108">
                <a:solidFill>
                  <a:srgbClr val="3C5366"/>
                </a:solidFill>
                <a:latin typeface="Arimo Bold"/>
                <a:ea typeface="Arimo Bold"/>
                <a:cs typeface="Arimo Bold"/>
                <a:sym typeface="Arimo Bold"/>
              </a:rPr>
              <a:t>Housing Debt Concentration &amp; Structural Risk</a:t>
            </a:r>
          </a:p>
          <a:p>
            <a:pPr algn="ctr">
              <a:lnSpc>
                <a:spcPts val="5822"/>
              </a:lnSpc>
              <a:spcBef>
                <a:spcPct val="0"/>
              </a:spcBef>
            </a:pPr>
          </a:p>
        </p:txBody>
      </p:sp>
      <p:sp>
        <p:nvSpPr>
          <p:cNvPr name="TextBox 9" id="9"/>
          <p:cNvSpPr txBox="true"/>
          <p:nvPr/>
        </p:nvSpPr>
        <p:spPr>
          <a:xfrm rot="0">
            <a:off x="7744797" y="1750795"/>
            <a:ext cx="9294424" cy="296047"/>
          </a:xfrm>
          <a:prstGeom prst="rect">
            <a:avLst/>
          </a:prstGeom>
        </p:spPr>
        <p:txBody>
          <a:bodyPr anchor="t" rtlCol="false" tIns="0" lIns="0" bIns="0" rIns="0">
            <a:spAutoFit/>
          </a:bodyPr>
          <a:lstStyle/>
          <a:p>
            <a:pPr algn="ctr">
              <a:lnSpc>
                <a:spcPts val="2253"/>
              </a:lnSpc>
              <a:spcBef>
                <a:spcPct val="0"/>
              </a:spcBef>
            </a:pPr>
            <a:r>
              <a:rPr lang="en-US" sz="1632">
                <a:solidFill>
                  <a:srgbClr val="3C5366"/>
                </a:solidFill>
                <a:latin typeface="Arimo"/>
                <a:ea typeface="Arimo"/>
                <a:cs typeface="Arimo"/>
                <a:sym typeface="Arimo"/>
              </a:rPr>
              <a:t>Canadian households carry various types of debt, with mortgages dominating the debt landscape.</a:t>
            </a:r>
          </a:p>
        </p:txBody>
      </p:sp>
      <p:sp>
        <p:nvSpPr>
          <p:cNvPr name="TextBox 10" id="10"/>
          <p:cNvSpPr txBox="true"/>
          <p:nvPr/>
        </p:nvSpPr>
        <p:spPr>
          <a:xfrm rot="0">
            <a:off x="5615122" y="7283218"/>
            <a:ext cx="10207015" cy="1940392"/>
          </a:xfrm>
          <a:prstGeom prst="rect">
            <a:avLst/>
          </a:prstGeom>
        </p:spPr>
        <p:txBody>
          <a:bodyPr anchor="t" rtlCol="false" tIns="0" lIns="0" bIns="0" rIns="0">
            <a:spAutoFit/>
          </a:bodyPr>
          <a:lstStyle/>
          <a:p>
            <a:pPr algn="l" marL="507751" indent="-253876" lvl="1">
              <a:lnSpc>
                <a:spcPts val="3245"/>
              </a:lnSpc>
              <a:buFont typeface="Arial"/>
              <a:buChar char="•"/>
            </a:pPr>
            <a:r>
              <a:rPr lang="en-US" sz="2351" spc="-11">
                <a:solidFill>
                  <a:srgbClr val="3C5366"/>
                </a:solidFill>
                <a:latin typeface="Arimo"/>
                <a:ea typeface="Arimo"/>
                <a:cs typeface="Arimo"/>
                <a:sym typeface="Arimo"/>
              </a:rPr>
              <a:t>Mortgages = 84% of total household debt</a:t>
            </a:r>
          </a:p>
          <a:p>
            <a:pPr algn="l" marL="507751" indent="-253876" lvl="1">
              <a:lnSpc>
                <a:spcPts val="3245"/>
              </a:lnSpc>
              <a:buFont typeface="Arial"/>
              <a:buChar char="•"/>
            </a:pPr>
            <a:r>
              <a:rPr lang="en-US" sz="2351" spc="-11">
                <a:solidFill>
                  <a:srgbClr val="3C5366"/>
                </a:solidFill>
                <a:latin typeface="Arimo"/>
                <a:ea typeface="Arimo"/>
                <a:cs typeface="Arimo"/>
                <a:sym typeface="Arimo"/>
              </a:rPr>
              <a:t>Line of credit is second largest category</a:t>
            </a:r>
          </a:p>
          <a:p>
            <a:pPr algn="l" marL="507751" indent="-253876" lvl="1">
              <a:lnSpc>
                <a:spcPts val="3245"/>
              </a:lnSpc>
              <a:buFont typeface="Arial"/>
              <a:buChar char="•"/>
            </a:pPr>
            <a:r>
              <a:rPr lang="en-US" sz="2351" spc="-11">
                <a:solidFill>
                  <a:srgbClr val="3C5366"/>
                </a:solidFill>
                <a:latin typeface="Arimo"/>
                <a:ea typeface="Arimo"/>
                <a:cs typeface="Arimo"/>
                <a:sym typeface="Arimo"/>
              </a:rPr>
              <a:t>Debt distribution is highly right-skewed</a:t>
            </a:r>
          </a:p>
          <a:p>
            <a:pPr algn="ctr">
              <a:lnSpc>
                <a:spcPts val="2831"/>
              </a:lnSpc>
            </a:pPr>
          </a:p>
          <a:p>
            <a:pPr algn="ctr">
              <a:lnSpc>
                <a:spcPts val="2831"/>
              </a:lnSpc>
              <a:spcBef>
                <a:spcPct val="0"/>
              </a:spcBef>
            </a:pPr>
          </a:p>
        </p:txBody>
      </p:sp>
      <p:sp>
        <p:nvSpPr>
          <p:cNvPr name="TextBox 11" id="11"/>
          <p:cNvSpPr txBox="true"/>
          <p:nvPr/>
        </p:nvSpPr>
        <p:spPr>
          <a:xfrm rot="0">
            <a:off x="3639972" y="8541239"/>
            <a:ext cx="11279951" cy="466725"/>
          </a:xfrm>
          <a:prstGeom prst="rect">
            <a:avLst/>
          </a:prstGeom>
        </p:spPr>
        <p:txBody>
          <a:bodyPr anchor="t" rtlCol="false" tIns="0" lIns="0" bIns="0" rIns="0">
            <a:spAutoFit/>
          </a:bodyPr>
          <a:lstStyle/>
          <a:p>
            <a:pPr algn="ctr">
              <a:lnSpc>
                <a:spcPts val="3719"/>
              </a:lnSpc>
              <a:spcBef>
                <a:spcPct val="0"/>
              </a:spcBef>
            </a:pPr>
            <a:r>
              <a:rPr lang="en-US" b="true" sz="3099" spc="-55">
                <a:solidFill>
                  <a:srgbClr val="3C5366"/>
                </a:solidFill>
                <a:latin typeface="Inter Bold"/>
                <a:ea typeface="Inter Bold"/>
                <a:cs typeface="Inter Bold"/>
                <a:sym typeface="Inter Bold"/>
              </a:rPr>
              <a:t>Household financial risk is concentrated in housing leverage.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854823" y="629064"/>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029923" y="1988761"/>
            <a:ext cx="7314773" cy="5750608"/>
          </a:xfrm>
          <a:custGeom>
            <a:avLst/>
            <a:gdLst/>
            <a:ahLst/>
            <a:cxnLst/>
            <a:rect r="r" b="b" t="t" l="l"/>
            <a:pathLst>
              <a:path h="5750608" w="7314773">
                <a:moveTo>
                  <a:pt x="0" y="0"/>
                </a:moveTo>
                <a:lnTo>
                  <a:pt x="7314773" y="0"/>
                </a:lnTo>
                <a:lnTo>
                  <a:pt x="7314773" y="5750608"/>
                </a:lnTo>
                <a:lnTo>
                  <a:pt x="0" y="5750608"/>
                </a:lnTo>
                <a:lnTo>
                  <a:pt x="0" y="0"/>
                </a:lnTo>
                <a:close/>
              </a:path>
            </a:pathLst>
          </a:custGeom>
          <a:blipFill>
            <a:blip r:embed="rId7"/>
            <a:stretch>
              <a:fillRect l="0" t="0" r="0" b="0"/>
            </a:stretch>
          </a:blipFill>
        </p:spPr>
      </p:sp>
      <p:grpSp>
        <p:nvGrpSpPr>
          <p:cNvPr name="Group 7" id="7"/>
          <p:cNvGrpSpPr/>
          <p:nvPr/>
        </p:nvGrpSpPr>
        <p:grpSpPr>
          <a:xfrm rot="0">
            <a:off x="2796411" y="3685503"/>
            <a:ext cx="1488896" cy="2268795"/>
            <a:chOff x="0" y="0"/>
            <a:chExt cx="533400" cy="812800"/>
          </a:xfrm>
        </p:grpSpPr>
        <p:sp>
          <p:nvSpPr>
            <p:cNvPr name="Freeform 8" id="8"/>
            <p:cNvSpPr/>
            <p:nvPr/>
          </p:nvSpPr>
          <p:spPr>
            <a:xfrm flipH="false" flipV="false" rot="0">
              <a:off x="0" y="0"/>
              <a:ext cx="533400" cy="812800"/>
            </a:xfrm>
            <a:custGeom>
              <a:avLst/>
              <a:gdLst/>
              <a:ahLst/>
              <a:cxnLst/>
              <a:rect r="r" b="b" t="t" l="l"/>
              <a:pathLst>
                <a:path h="812800" w="533400">
                  <a:moveTo>
                    <a:pt x="0" y="539750"/>
                  </a:moveTo>
                  <a:lnTo>
                    <a:pt x="266700" y="812800"/>
                  </a:lnTo>
                  <a:lnTo>
                    <a:pt x="533400" y="539750"/>
                  </a:lnTo>
                  <a:lnTo>
                    <a:pt x="400050" y="539750"/>
                  </a:lnTo>
                  <a:lnTo>
                    <a:pt x="400050" y="273050"/>
                  </a:lnTo>
                  <a:lnTo>
                    <a:pt x="533400" y="273050"/>
                  </a:lnTo>
                  <a:lnTo>
                    <a:pt x="266700" y="0"/>
                  </a:lnTo>
                  <a:lnTo>
                    <a:pt x="0" y="273050"/>
                  </a:lnTo>
                  <a:lnTo>
                    <a:pt x="133350" y="273050"/>
                  </a:lnTo>
                  <a:lnTo>
                    <a:pt x="133350" y="539750"/>
                  </a:lnTo>
                  <a:lnTo>
                    <a:pt x="0" y="539750"/>
                  </a:lnTo>
                  <a:close/>
                </a:path>
              </a:pathLst>
            </a:custGeom>
            <a:blipFill>
              <a:blip r:embed="rId8"/>
              <a:stretch>
                <a:fillRect l="-145510" t="0" r="-145510" b="0"/>
              </a:stretch>
            </a:blipFill>
          </p:spPr>
        </p:sp>
      </p:grpSp>
      <p:sp>
        <p:nvSpPr>
          <p:cNvPr name="TextBox 9" id="9"/>
          <p:cNvSpPr txBox="true"/>
          <p:nvPr/>
        </p:nvSpPr>
        <p:spPr>
          <a:xfrm rot="0">
            <a:off x="1636416" y="6415366"/>
            <a:ext cx="5864468" cy="1943100"/>
          </a:xfrm>
          <a:prstGeom prst="rect">
            <a:avLst/>
          </a:prstGeom>
        </p:spPr>
        <p:txBody>
          <a:bodyPr anchor="t" rtlCol="false" tIns="0" lIns="0" bIns="0" rIns="0">
            <a:spAutoFit/>
          </a:bodyPr>
          <a:lstStyle/>
          <a:p>
            <a:pPr algn="l" marL="501699" indent="-250849" lvl="1">
              <a:lnSpc>
                <a:spcPts val="2788"/>
              </a:lnSpc>
              <a:buFont typeface="Arial"/>
              <a:buChar char="•"/>
            </a:pPr>
            <a:r>
              <a:rPr lang="en-US" sz="2323" spc="-11">
                <a:solidFill>
                  <a:srgbClr val="3C5366"/>
                </a:solidFill>
                <a:latin typeface="Inter"/>
                <a:ea typeface="Inter"/>
                <a:cs typeface="Inter"/>
                <a:sym typeface="Inter"/>
              </a:rPr>
              <a:t>Households owning outright have 7.2× the net worth of renters.</a:t>
            </a:r>
          </a:p>
          <a:p>
            <a:pPr algn="l" marL="501699" indent="-250849" lvl="1">
              <a:lnSpc>
                <a:spcPts val="2788"/>
              </a:lnSpc>
              <a:buFont typeface="Arial"/>
              <a:buChar char="•"/>
            </a:pPr>
            <a:r>
              <a:rPr lang="en-US" sz="2323" spc="-11">
                <a:solidFill>
                  <a:srgbClr val="3C5366"/>
                </a:solidFill>
                <a:latin typeface="Inter"/>
                <a:ea typeface="Inter"/>
                <a:cs typeface="Inter"/>
                <a:sym typeface="Inter"/>
              </a:rPr>
              <a:t>Even households with mortgages hold 4.4× the wealth of renters.</a:t>
            </a:r>
          </a:p>
          <a:p>
            <a:pPr algn="l">
              <a:lnSpc>
                <a:spcPts val="2103"/>
              </a:lnSpc>
            </a:pPr>
          </a:p>
          <a:p>
            <a:pPr algn="ctr">
              <a:lnSpc>
                <a:spcPts val="2103"/>
              </a:lnSpc>
              <a:spcBef>
                <a:spcPct val="0"/>
              </a:spcBef>
            </a:pPr>
          </a:p>
        </p:txBody>
      </p:sp>
      <p:sp>
        <p:nvSpPr>
          <p:cNvPr name="TextBox 10" id="10"/>
          <p:cNvSpPr txBox="true"/>
          <p:nvPr/>
        </p:nvSpPr>
        <p:spPr>
          <a:xfrm rot="0">
            <a:off x="2796411" y="877354"/>
            <a:ext cx="12169244" cy="1828800"/>
          </a:xfrm>
          <a:prstGeom prst="rect">
            <a:avLst/>
          </a:prstGeom>
        </p:spPr>
        <p:txBody>
          <a:bodyPr anchor="t" rtlCol="false" tIns="0" lIns="0" bIns="0" rIns="0">
            <a:spAutoFit/>
          </a:bodyPr>
          <a:lstStyle/>
          <a:p>
            <a:pPr algn="ctr">
              <a:lnSpc>
                <a:spcPts val="7200"/>
              </a:lnSpc>
            </a:pPr>
            <a:r>
              <a:rPr lang="en-US" b="true" sz="6000" spc="-108">
                <a:solidFill>
                  <a:srgbClr val="3C5366"/>
                </a:solidFill>
                <a:latin typeface="Inter Bold"/>
                <a:ea typeface="Inter Bold"/>
                <a:cs typeface="Inter Bold"/>
                <a:sym typeface="Inter Bold"/>
              </a:rPr>
              <a:t>Home Ownership &amp; Wealth</a:t>
            </a:r>
          </a:p>
          <a:p>
            <a:pPr algn="ctr">
              <a:lnSpc>
                <a:spcPts val="7200"/>
              </a:lnSpc>
              <a:spcBef>
                <a:spcPct val="0"/>
              </a:spcBef>
            </a:pPr>
          </a:p>
        </p:txBody>
      </p:sp>
      <p:sp>
        <p:nvSpPr>
          <p:cNvPr name="TextBox 11" id="11"/>
          <p:cNvSpPr txBox="true"/>
          <p:nvPr/>
        </p:nvSpPr>
        <p:spPr>
          <a:xfrm rot="0">
            <a:off x="1308995" y="8021746"/>
            <a:ext cx="15950305" cy="438150"/>
          </a:xfrm>
          <a:prstGeom prst="rect">
            <a:avLst/>
          </a:prstGeom>
        </p:spPr>
        <p:txBody>
          <a:bodyPr anchor="t" rtlCol="false" tIns="0" lIns="0" bIns="0" rIns="0">
            <a:spAutoFit/>
          </a:bodyPr>
          <a:lstStyle/>
          <a:p>
            <a:pPr algn="ctr">
              <a:lnSpc>
                <a:spcPts val="3599"/>
              </a:lnSpc>
              <a:spcBef>
                <a:spcPct val="0"/>
              </a:spcBef>
            </a:pPr>
            <a:r>
              <a:rPr lang="en-US" b="true" sz="2999" spc="-53">
                <a:solidFill>
                  <a:srgbClr val="3C5366"/>
                </a:solidFill>
                <a:latin typeface="Inter Bold"/>
                <a:ea typeface="Inter Bold"/>
                <a:cs typeface="Inter Bold"/>
                <a:sym typeface="Inter Bold"/>
              </a:rPr>
              <a:t>H</a:t>
            </a:r>
            <a:r>
              <a:rPr lang="en-US" b="true" sz="2999" spc="-53">
                <a:solidFill>
                  <a:srgbClr val="3C5366"/>
                </a:solidFill>
                <a:latin typeface="Inter Bold"/>
                <a:ea typeface="Inter Bold"/>
                <a:cs typeface="Inter Bold"/>
                <a:sym typeface="Inter Bold"/>
              </a:rPr>
              <a:t>ome ownership status emerges as a critical factor differentiating household wealth.</a:t>
            </a:r>
          </a:p>
        </p:txBody>
      </p:sp>
      <p:sp>
        <p:nvSpPr>
          <p:cNvPr name="TextBox 12" id="12"/>
          <p:cNvSpPr txBox="true"/>
          <p:nvPr/>
        </p:nvSpPr>
        <p:spPr>
          <a:xfrm rot="0">
            <a:off x="1636416" y="2365320"/>
            <a:ext cx="4894780" cy="1447800"/>
          </a:xfrm>
          <a:prstGeom prst="rect">
            <a:avLst/>
          </a:prstGeom>
        </p:spPr>
        <p:txBody>
          <a:bodyPr anchor="t" rtlCol="false" tIns="0" lIns="0" bIns="0" rIns="0">
            <a:spAutoFit/>
          </a:bodyPr>
          <a:lstStyle/>
          <a:p>
            <a:pPr algn="l" marL="513840" indent="-256920" lvl="1">
              <a:lnSpc>
                <a:spcPts val="2855"/>
              </a:lnSpc>
              <a:buFont typeface="Arial"/>
              <a:buChar char="•"/>
            </a:pPr>
            <a:r>
              <a:rPr lang="en-US" sz="2379" spc="-42">
                <a:solidFill>
                  <a:srgbClr val="3C5366"/>
                </a:solidFill>
                <a:latin typeface="Inter"/>
                <a:ea typeface="Inter"/>
                <a:cs typeface="Inter"/>
                <a:sym typeface="Inter"/>
              </a:rPr>
              <a:t>Own </a:t>
            </a:r>
            <a:r>
              <a:rPr lang="en-US" sz="2379" spc="-42">
                <a:solidFill>
                  <a:srgbClr val="3C5366"/>
                </a:solidFill>
                <a:latin typeface="Inter"/>
                <a:ea typeface="Inter"/>
                <a:cs typeface="Inter"/>
                <a:sym typeface="Inter"/>
              </a:rPr>
              <a:t>outright: 2.2M</a:t>
            </a:r>
          </a:p>
          <a:p>
            <a:pPr algn="l" marL="513840" indent="-256920" lvl="1">
              <a:lnSpc>
                <a:spcPts val="2855"/>
              </a:lnSpc>
              <a:buFont typeface="Arial"/>
              <a:buChar char="•"/>
            </a:pPr>
            <a:r>
              <a:rPr lang="en-US" sz="2379" spc="-42">
                <a:solidFill>
                  <a:srgbClr val="3C5366"/>
                </a:solidFill>
                <a:latin typeface="Inter"/>
                <a:ea typeface="Inter"/>
                <a:cs typeface="Inter"/>
                <a:sym typeface="Inter"/>
              </a:rPr>
              <a:t> Own with mortgage: 1.34M</a:t>
            </a:r>
          </a:p>
          <a:p>
            <a:pPr algn="l" marL="513840" indent="-256920" lvl="1">
              <a:lnSpc>
                <a:spcPts val="2855"/>
              </a:lnSpc>
              <a:buFont typeface="Arial"/>
              <a:buChar char="•"/>
            </a:pPr>
            <a:r>
              <a:rPr lang="en-US" sz="2379" spc="-42">
                <a:solidFill>
                  <a:srgbClr val="3C5366"/>
                </a:solidFill>
                <a:latin typeface="Inter"/>
                <a:ea typeface="Inter"/>
                <a:cs typeface="Inter"/>
                <a:sym typeface="Inter"/>
              </a:rPr>
              <a:t> Rent: 307K</a:t>
            </a:r>
          </a:p>
          <a:p>
            <a:pPr algn="ctr">
              <a:lnSpc>
                <a:spcPts val="285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28462" y="649876"/>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85818" y="2240939"/>
            <a:ext cx="7114682" cy="5750608"/>
          </a:xfrm>
          <a:custGeom>
            <a:avLst/>
            <a:gdLst/>
            <a:ahLst/>
            <a:cxnLst/>
            <a:rect r="r" b="b" t="t" l="l"/>
            <a:pathLst>
              <a:path h="5750608" w="7114682">
                <a:moveTo>
                  <a:pt x="0" y="0"/>
                </a:moveTo>
                <a:lnTo>
                  <a:pt x="7114682" y="0"/>
                </a:lnTo>
                <a:lnTo>
                  <a:pt x="7114682" y="5750607"/>
                </a:lnTo>
                <a:lnTo>
                  <a:pt x="0" y="5750607"/>
                </a:lnTo>
                <a:lnTo>
                  <a:pt x="0" y="0"/>
                </a:lnTo>
                <a:close/>
              </a:path>
            </a:pathLst>
          </a:custGeom>
          <a:blipFill>
            <a:blip r:embed="rId7"/>
            <a:stretch>
              <a:fillRect l="0" t="0" r="-2812" b="0"/>
            </a:stretch>
          </a:blipFill>
        </p:spPr>
      </p:sp>
      <p:sp>
        <p:nvSpPr>
          <p:cNvPr name="TextBox 7" id="7"/>
          <p:cNvSpPr txBox="true"/>
          <p:nvPr/>
        </p:nvSpPr>
        <p:spPr>
          <a:xfrm rot="0">
            <a:off x="1545212" y="1028700"/>
            <a:ext cx="15225151" cy="1733550"/>
          </a:xfrm>
          <a:prstGeom prst="rect">
            <a:avLst/>
          </a:prstGeom>
        </p:spPr>
        <p:txBody>
          <a:bodyPr anchor="t" rtlCol="false" tIns="0" lIns="0" bIns="0" rIns="0">
            <a:spAutoFit/>
          </a:bodyPr>
          <a:lstStyle/>
          <a:p>
            <a:pPr algn="ctr">
              <a:lnSpc>
                <a:spcPts val="7200"/>
              </a:lnSpc>
            </a:pPr>
            <a:r>
              <a:rPr lang="en-US" b="true" sz="6000" spc="-108">
                <a:solidFill>
                  <a:srgbClr val="3C5366"/>
                </a:solidFill>
                <a:latin typeface="Inter Bold"/>
                <a:ea typeface="Inter Bold"/>
                <a:cs typeface="Inter Bold"/>
                <a:sym typeface="Inter Bold"/>
              </a:rPr>
              <a:t>Education Premium</a:t>
            </a:r>
          </a:p>
          <a:p>
            <a:pPr algn="ctr">
              <a:lnSpc>
                <a:spcPts val="6480"/>
              </a:lnSpc>
            </a:pPr>
          </a:p>
        </p:txBody>
      </p:sp>
      <p:sp>
        <p:nvSpPr>
          <p:cNvPr name="TextBox 8" id="8"/>
          <p:cNvSpPr txBox="true"/>
          <p:nvPr/>
        </p:nvSpPr>
        <p:spPr>
          <a:xfrm rot="0">
            <a:off x="1025538" y="8465039"/>
            <a:ext cx="16756570" cy="438150"/>
          </a:xfrm>
          <a:prstGeom prst="rect">
            <a:avLst/>
          </a:prstGeom>
        </p:spPr>
        <p:txBody>
          <a:bodyPr anchor="t" rtlCol="false" tIns="0" lIns="0" bIns="0" rIns="0">
            <a:spAutoFit/>
          </a:bodyPr>
          <a:lstStyle/>
          <a:p>
            <a:pPr algn="ctr">
              <a:lnSpc>
                <a:spcPts val="3479"/>
              </a:lnSpc>
              <a:spcBef>
                <a:spcPct val="0"/>
              </a:spcBef>
            </a:pPr>
            <a:r>
              <a:rPr lang="en-US" b="true" sz="2899" spc="-52">
                <a:solidFill>
                  <a:srgbClr val="3C5366"/>
                </a:solidFill>
                <a:latin typeface="Inter Bold"/>
                <a:ea typeface="Inter Bold"/>
                <a:cs typeface="Inter Bold"/>
                <a:sym typeface="Inter Bold"/>
              </a:rPr>
              <a:t>Education strengthens long-term financial resilience.</a:t>
            </a:r>
          </a:p>
        </p:txBody>
      </p:sp>
      <p:sp>
        <p:nvSpPr>
          <p:cNvPr name="TextBox 9" id="9"/>
          <p:cNvSpPr txBox="true"/>
          <p:nvPr/>
        </p:nvSpPr>
        <p:spPr>
          <a:xfrm rot="0">
            <a:off x="8580107" y="6218796"/>
            <a:ext cx="7808653" cy="1771650"/>
          </a:xfrm>
          <a:prstGeom prst="rect">
            <a:avLst/>
          </a:prstGeom>
        </p:spPr>
        <p:txBody>
          <a:bodyPr anchor="t" rtlCol="false" tIns="0" lIns="0" bIns="0" rIns="0">
            <a:spAutoFit/>
          </a:bodyPr>
          <a:lstStyle/>
          <a:p>
            <a:pPr algn="l" marL="510209" indent="-255105" lvl="1">
              <a:lnSpc>
                <a:spcPts val="2835"/>
              </a:lnSpc>
              <a:buFont typeface="Arial"/>
              <a:buChar char="•"/>
            </a:pPr>
            <a:r>
              <a:rPr lang="en-US" sz="2363" spc="-42">
                <a:solidFill>
                  <a:srgbClr val="3C5366"/>
                </a:solidFill>
                <a:latin typeface="Inter"/>
                <a:ea typeface="Inter"/>
                <a:cs typeface="Inter"/>
                <a:sym typeface="Inter"/>
              </a:rPr>
              <a:t>University graduates show the highest average net worth.</a:t>
            </a:r>
          </a:p>
          <a:p>
            <a:pPr algn="l" marL="510209" indent="-255105" lvl="1">
              <a:lnSpc>
                <a:spcPts val="2835"/>
              </a:lnSpc>
              <a:buFont typeface="Arial"/>
              <a:buChar char="•"/>
            </a:pPr>
            <a:r>
              <a:rPr lang="en-US" sz="2363" spc="-42">
                <a:solidFill>
                  <a:srgbClr val="3C5366"/>
                </a:solidFill>
                <a:latin typeface="Inter"/>
                <a:ea typeface="Inter"/>
                <a:cs typeface="Inter"/>
                <a:sym typeface="Inter"/>
              </a:rPr>
              <a:t>Post-secondary education also provides advantage over high school.</a:t>
            </a:r>
          </a:p>
          <a:p>
            <a:pPr algn="l" marL="510209" indent="-255105" lvl="1">
              <a:lnSpc>
                <a:spcPts val="2835"/>
              </a:lnSpc>
              <a:buFont typeface="Arial"/>
              <a:buChar char="•"/>
            </a:pPr>
            <a:r>
              <a:rPr lang="en-US" sz="2363" spc="-42">
                <a:solidFill>
                  <a:srgbClr val="3C5366"/>
                </a:solidFill>
                <a:latin typeface="Inter"/>
                <a:ea typeface="Inter"/>
                <a:cs typeface="Inter"/>
                <a:sym typeface="Inter"/>
              </a:rPr>
              <a:t>Education impact compounds over time.</a:t>
            </a:r>
          </a:p>
        </p:txBody>
      </p:sp>
      <p:grpSp>
        <p:nvGrpSpPr>
          <p:cNvPr name="Group 10" id="10"/>
          <p:cNvGrpSpPr/>
          <p:nvPr/>
        </p:nvGrpSpPr>
        <p:grpSpPr>
          <a:xfrm rot="0">
            <a:off x="9670572" y="2081830"/>
            <a:ext cx="5361203" cy="3859141"/>
            <a:chOff x="0" y="0"/>
            <a:chExt cx="9836056" cy="7080263"/>
          </a:xfrm>
        </p:grpSpPr>
        <p:sp>
          <p:nvSpPr>
            <p:cNvPr name="Freeform 11" id="11"/>
            <p:cNvSpPr/>
            <p:nvPr/>
          </p:nvSpPr>
          <p:spPr>
            <a:xfrm flipH="false" flipV="false" rot="0">
              <a:off x="0" y="0"/>
              <a:ext cx="9836107" cy="7080250"/>
            </a:xfrm>
            <a:custGeom>
              <a:avLst/>
              <a:gdLst/>
              <a:ahLst/>
              <a:cxnLst/>
              <a:rect r="r" b="b" t="t" l="l"/>
              <a:pathLst>
                <a:path h="7080250" w="9836107">
                  <a:moveTo>
                    <a:pt x="0" y="0"/>
                  </a:moveTo>
                  <a:lnTo>
                    <a:pt x="9836107" y="0"/>
                  </a:lnTo>
                  <a:lnTo>
                    <a:pt x="9836107" y="7080250"/>
                  </a:lnTo>
                  <a:lnTo>
                    <a:pt x="0" y="7080250"/>
                  </a:lnTo>
                  <a:lnTo>
                    <a:pt x="0" y="0"/>
                  </a:lnTo>
                  <a:close/>
                </a:path>
              </a:pathLst>
            </a:custGeom>
            <a:blipFill>
              <a:blip r:embed="rId8"/>
              <a:stretch>
                <a:fillRect l="-2035" t="0" r="-2035"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05488" y="2415310"/>
            <a:ext cx="7314773" cy="5750608"/>
          </a:xfrm>
          <a:custGeom>
            <a:avLst/>
            <a:gdLst/>
            <a:ahLst/>
            <a:cxnLst/>
            <a:rect r="r" b="b" t="t" l="l"/>
            <a:pathLst>
              <a:path h="5750608" w="7314773">
                <a:moveTo>
                  <a:pt x="0" y="0"/>
                </a:moveTo>
                <a:lnTo>
                  <a:pt x="7314773" y="0"/>
                </a:lnTo>
                <a:lnTo>
                  <a:pt x="7314773" y="5750608"/>
                </a:lnTo>
                <a:lnTo>
                  <a:pt x="0" y="5750608"/>
                </a:lnTo>
                <a:lnTo>
                  <a:pt x="0" y="0"/>
                </a:lnTo>
                <a:close/>
              </a:path>
            </a:pathLst>
          </a:custGeom>
          <a:blipFill>
            <a:blip r:embed="rId7"/>
            <a:stretch>
              <a:fillRect l="0" t="0" r="0" b="0"/>
            </a:stretch>
          </a:blipFill>
        </p:spPr>
      </p:sp>
      <p:sp>
        <p:nvSpPr>
          <p:cNvPr name="TextBox 7" id="7"/>
          <p:cNvSpPr txBox="true"/>
          <p:nvPr/>
        </p:nvSpPr>
        <p:spPr>
          <a:xfrm rot="0">
            <a:off x="1655171" y="1028700"/>
            <a:ext cx="15225151" cy="1733550"/>
          </a:xfrm>
          <a:prstGeom prst="rect">
            <a:avLst/>
          </a:prstGeom>
        </p:spPr>
        <p:txBody>
          <a:bodyPr anchor="t" rtlCol="false" tIns="0" lIns="0" bIns="0" rIns="0">
            <a:spAutoFit/>
          </a:bodyPr>
          <a:lstStyle/>
          <a:p>
            <a:pPr algn="ctr">
              <a:lnSpc>
                <a:spcPts val="7200"/>
              </a:lnSpc>
            </a:pPr>
            <a:r>
              <a:rPr lang="en-US" b="true" sz="6000" spc="-108">
                <a:solidFill>
                  <a:srgbClr val="3C5366"/>
                </a:solidFill>
                <a:latin typeface="Inter Bold"/>
                <a:ea typeface="Inter Bold"/>
                <a:cs typeface="Inter Bold"/>
                <a:sym typeface="Inter Bold"/>
              </a:rPr>
              <a:t>Credit Card Payment Behavior</a:t>
            </a:r>
          </a:p>
          <a:p>
            <a:pPr algn="ctr">
              <a:lnSpc>
                <a:spcPts val="6480"/>
              </a:lnSpc>
            </a:pPr>
          </a:p>
        </p:txBody>
      </p:sp>
      <p:sp>
        <p:nvSpPr>
          <p:cNvPr name="TextBox 8" id="8"/>
          <p:cNvSpPr txBox="true"/>
          <p:nvPr/>
        </p:nvSpPr>
        <p:spPr>
          <a:xfrm rot="0">
            <a:off x="9143995" y="2415310"/>
            <a:ext cx="4095562" cy="1905000"/>
          </a:xfrm>
          <a:prstGeom prst="rect">
            <a:avLst/>
          </a:prstGeom>
        </p:spPr>
        <p:txBody>
          <a:bodyPr anchor="t" rtlCol="false" tIns="0" lIns="0" bIns="0" rIns="0">
            <a:spAutoFit/>
          </a:bodyPr>
          <a:lstStyle/>
          <a:p>
            <a:pPr algn="l">
              <a:lnSpc>
                <a:spcPts val="3039"/>
              </a:lnSpc>
            </a:pPr>
            <a:r>
              <a:rPr lang="en-US" sz="2533" spc="-12" b="true">
                <a:solidFill>
                  <a:srgbClr val="3C5366"/>
                </a:solidFill>
                <a:latin typeface="Inter Bold"/>
                <a:ea typeface="Inter Bold"/>
                <a:cs typeface="Inter Bold"/>
                <a:sym typeface="Inter Bold"/>
              </a:rPr>
              <a:t>Payment distribution</a:t>
            </a:r>
          </a:p>
          <a:p>
            <a:pPr algn="l">
              <a:lnSpc>
                <a:spcPts val="3039"/>
              </a:lnSpc>
            </a:pPr>
            <a:r>
              <a:rPr lang="en-US" sz="2533" spc="-12">
                <a:solidFill>
                  <a:srgbClr val="3C5366"/>
                </a:solidFill>
                <a:latin typeface="Inter"/>
                <a:ea typeface="Inter"/>
                <a:cs typeface="Inter"/>
                <a:sym typeface="Inter"/>
              </a:rPr>
              <a:t>Full payment: 66%</a:t>
            </a:r>
          </a:p>
          <a:p>
            <a:pPr algn="l">
              <a:lnSpc>
                <a:spcPts val="3039"/>
              </a:lnSpc>
            </a:pPr>
            <a:r>
              <a:rPr lang="en-US" sz="2533" spc="-12">
                <a:solidFill>
                  <a:srgbClr val="3C5366"/>
                </a:solidFill>
                <a:latin typeface="Inter"/>
                <a:ea typeface="Inter"/>
                <a:cs typeface="Inter"/>
                <a:sym typeface="Inter"/>
              </a:rPr>
              <a:t> Partial/minimum: 26%</a:t>
            </a:r>
          </a:p>
          <a:p>
            <a:pPr algn="l">
              <a:lnSpc>
                <a:spcPts val="3039"/>
              </a:lnSpc>
            </a:pPr>
            <a:r>
              <a:rPr lang="en-US" sz="2533" spc="-12">
                <a:solidFill>
                  <a:srgbClr val="3C5366"/>
                </a:solidFill>
                <a:latin typeface="Inter"/>
                <a:ea typeface="Inter"/>
                <a:cs typeface="Inter"/>
                <a:sym typeface="Inter"/>
              </a:rPr>
              <a:t> Skip/below minimum: 7%</a:t>
            </a:r>
          </a:p>
          <a:p>
            <a:pPr algn="l">
              <a:lnSpc>
                <a:spcPts val="3039"/>
              </a:lnSpc>
              <a:spcBef>
                <a:spcPct val="0"/>
              </a:spcBef>
            </a:pPr>
          </a:p>
        </p:txBody>
      </p:sp>
      <p:sp>
        <p:nvSpPr>
          <p:cNvPr name="TextBox 9" id="9"/>
          <p:cNvSpPr txBox="true"/>
          <p:nvPr/>
        </p:nvSpPr>
        <p:spPr>
          <a:xfrm rot="0">
            <a:off x="8840920" y="4772457"/>
            <a:ext cx="7306450" cy="2933700"/>
          </a:xfrm>
          <a:prstGeom prst="rect">
            <a:avLst/>
          </a:prstGeom>
        </p:spPr>
        <p:txBody>
          <a:bodyPr anchor="t" rtlCol="false" tIns="0" lIns="0" bIns="0" rIns="0">
            <a:spAutoFit/>
          </a:bodyPr>
          <a:lstStyle/>
          <a:p>
            <a:pPr algn="l">
              <a:lnSpc>
                <a:spcPts val="2999"/>
              </a:lnSpc>
            </a:pPr>
            <a:r>
              <a:rPr lang="en-US" b="true" sz="2499" spc="-12">
                <a:solidFill>
                  <a:srgbClr val="3C5366"/>
                </a:solidFill>
                <a:latin typeface="Inter Bold"/>
                <a:ea typeface="Inter Bold"/>
                <a:cs typeface="Inter Bold"/>
                <a:sym typeface="Inter Bold"/>
              </a:rPr>
              <a:t>Financial Health Assessment:</a:t>
            </a:r>
          </a:p>
          <a:p>
            <a:pPr algn="l" marL="539749" indent="-269875" lvl="1">
              <a:lnSpc>
                <a:spcPts val="2999"/>
              </a:lnSpc>
              <a:buFont typeface="Arial"/>
              <a:buChar char="•"/>
            </a:pPr>
            <a:r>
              <a:rPr lang="en-US" b="true" sz="2499" spc="-12">
                <a:solidFill>
                  <a:srgbClr val="3C5366"/>
                </a:solidFill>
                <a:latin typeface="Inter Bold"/>
                <a:ea typeface="Inter Bold"/>
                <a:cs typeface="Inter Bold"/>
                <a:sym typeface="Inter Bold"/>
              </a:rPr>
              <a:t>Full payers indicate strong monthly cash flow and lower interest burden.</a:t>
            </a:r>
          </a:p>
          <a:p>
            <a:pPr algn="l" marL="539749" indent="-269875" lvl="1">
              <a:lnSpc>
                <a:spcPts val="2999"/>
              </a:lnSpc>
              <a:buFont typeface="Arial"/>
              <a:buChar char="•"/>
            </a:pPr>
            <a:r>
              <a:rPr lang="en-US" b="true" sz="2499" spc="-12">
                <a:solidFill>
                  <a:srgbClr val="3C5366"/>
                </a:solidFill>
                <a:latin typeface="Inter Bold"/>
                <a:ea typeface="Inter Bold"/>
                <a:cs typeface="Inter Bold"/>
                <a:sym typeface="Inter Bold"/>
              </a:rPr>
              <a:t>Partial/minimum payers suggest revolving debt and rising repayment costs.</a:t>
            </a:r>
          </a:p>
          <a:p>
            <a:pPr algn="l" marL="539749" indent="-269875" lvl="1">
              <a:lnSpc>
                <a:spcPts val="2999"/>
              </a:lnSpc>
              <a:buFont typeface="Arial"/>
              <a:buChar char="•"/>
            </a:pPr>
            <a:r>
              <a:rPr lang="en-US" b="true" sz="2499" spc="-12">
                <a:solidFill>
                  <a:srgbClr val="3C5366"/>
                </a:solidFill>
                <a:latin typeface="Inter Bold"/>
                <a:ea typeface="Inter Bold"/>
                <a:cs typeface="Inter Bold"/>
                <a:sym typeface="Inter Bold"/>
              </a:rPr>
              <a:t>Skip/below minimum is a direct signal of short-term financial stress.</a:t>
            </a:r>
          </a:p>
          <a:p>
            <a:pPr algn="l">
              <a:lnSpc>
                <a:spcPts val="276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5" y="981475"/>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51315" y="2720501"/>
            <a:ext cx="4749826" cy="3514871"/>
          </a:xfrm>
          <a:custGeom>
            <a:avLst/>
            <a:gdLst/>
            <a:ahLst/>
            <a:cxnLst/>
            <a:rect r="r" b="b" t="t" l="l"/>
            <a:pathLst>
              <a:path h="3514871" w="4749826">
                <a:moveTo>
                  <a:pt x="0" y="0"/>
                </a:moveTo>
                <a:lnTo>
                  <a:pt x="4749826" y="0"/>
                </a:lnTo>
                <a:lnTo>
                  <a:pt x="4749826" y="3514871"/>
                </a:lnTo>
                <a:lnTo>
                  <a:pt x="0" y="3514871"/>
                </a:lnTo>
                <a:lnTo>
                  <a:pt x="0" y="0"/>
                </a:lnTo>
                <a:close/>
              </a:path>
            </a:pathLst>
          </a:custGeom>
          <a:blipFill>
            <a:blip r:embed="rId7"/>
            <a:stretch>
              <a:fillRect l="0" t="0" r="0" b="0"/>
            </a:stretch>
          </a:blipFill>
        </p:spPr>
      </p:sp>
      <p:sp>
        <p:nvSpPr>
          <p:cNvPr name="Freeform 7" id="7"/>
          <p:cNvSpPr/>
          <p:nvPr/>
        </p:nvSpPr>
        <p:spPr>
          <a:xfrm flipH="false" flipV="false" rot="0">
            <a:off x="6387233" y="2720501"/>
            <a:ext cx="5778182" cy="4095286"/>
          </a:xfrm>
          <a:custGeom>
            <a:avLst/>
            <a:gdLst/>
            <a:ahLst/>
            <a:cxnLst/>
            <a:rect r="r" b="b" t="t" l="l"/>
            <a:pathLst>
              <a:path h="4095286" w="5778182">
                <a:moveTo>
                  <a:pt x="0" y="0"/>
                </a:moveTo>
                <a:lnTo>
                  <a:pt x="5778182" y="0"/>
                </a:lnTo>
                <a:lnTo>
                  <a:pt x="5778182" y="4095286"/>
                </a:lnTo>
                <a:lnTo>
                  <a:pt x="0" y="4095286"/>
                </a:lnTo>
                <a:lnTo>
                  <a:pt x="0" y="0"/>
                </a:lnTo>
                <a:close/>
              </a:path>
            </a:pathLst>
          </a:custGeom>
          <a:blipFill>
            <a:blip r:embed="rId8"/>
            <a:stretch>
              <a:fillRect l="0" t="0" r="0" b="0"/>
            </a:stretch>
          </a:blipFill>
        </p:spPr>
      </p:sp>
      <p:sp>
        <p:nvSpPr>
          <p:cNvPr name="TextBox 8" id="8"/>
          <p:cNvSpPr txBox="true"/>
          <p:nvPr/>
        </p:nvSpPr>
        <p:spPr>
          <a:xfrm rot="0">
            <a:off x="1531429" y="991000"/>
            <a:ext cx="15225151" cy="1628775"/>
          </a:xfrm>
          <a:prstGeom prst="rect">
            <a:avLst/>
          </a:prstGeom>
        </p:spPr>
        <p:txBody>
          <a:bodyPr anchor="t" rtlCol="false" tIns="0" lIns="0" bIns="0" rIns="0">
            <a:spAutoFit/>
          </a:bodyPr>
          <a:lstStyle/>
          <a:p>
            <a:pPr algn="ctr">
              <a:lnSpc>
                <a:spcPts val="6480"/>
              </a:lnSpc>
            </a:pPr>
            <a:r>
              <a:rPr lang="en-US" b="true" sz="5400" spc="-97">
                <a:solidFill>
                  <a:srgbClr val="3C5366"/>
                </a:solidFill>
                <a:latin typeface="Inter Bold"/>
                <a:ea typeface="Inter Bold"/>
                <a:cs typeface="Inter Bold"/>
                <a:sym typeface="Inter Bold"/>
              </a:rPr>
              <a:t>Correlation Analysis</a:t>
            </a:r>
          </a:p>
          <a:p>
            <a:pPr algn="ctr">
              <a:lnSpc>
                <a:spcPts val="6480"/>
              </a:lnSpc>
            </a:pPr>
          </a:p>
        </p:txBody>
      </p:sp>
      <p:sp>
        <p:nvSpPr>
          <p:cNvPr name="TextBox 9" id="9"/>
          <p:cNvSpPr txBox="true"/>
          <p:nvPr/>
        </p:nvSpPr>
        <p:spPr>
          <a:xfrm rot="0">
            <a:off x="6914385" y="1791100"/>
            <a:ext cx="9081567" cy="485775"/>
          </a:xfrm>
          <a:prstGeom prst="rect">
            <a:avLst/>
          </a:prstGeom>
        </p:spPr>
        <p:txBody>
          <a:bodyPr anchor="t" rtlCol="false" tIns="0" lIns="0" bIns="0" rIns="0">
            <a:spAutoFit/>
          </a:bodyPr>
          <a:lstStyle/>
          <a:p>
            <a:pPr algn="ctr">
              <a:lnSpc>
                <a:spcPts val="1919"/>
              </a:lnSpc>
              <a:spcBef>
                <a:spcPct val="0"/>
              </a:spcBef>
            </a:pPr>
          </a:p>
          <a:p>
            <a:pPr algn="ctr">
              <a:lnSpc>
                <a:spcPts val="1919"/>
              </a:lnSpc>
              <a:spcBef>
                <a:spcPct val="0"/>
              </a:spcBef>
            </a:pPr>
            <a:r>
              <a:rPr lang="en-US" b="true" sz="1599">
                <a:solidFill>
                  <a:srgbClr val="3C5366"/>
                </a:solidFill>
                <a:latin typeface="Inter Bold"/>
                <a:ea typeface="Inter Bold"/>
                <a:cs typeface="Inter Bold"/>
                <a:sym typeface="Inter Bold"/>
              </a:rPr>
              <a:t>Examining relationships between financial variables reveals key drivers of household wealth.</a:t>
            </a:r>
          </a:p>
        </p:txBody>
      </p:sp>
      <p:sp>
        <p:nvSpPr>
          <p:cNvPr name="TextBox 10" id="10"/>
          <p:cNvSpPr txBox="true"/>
          <p:nvPr/>
        </p:nvSpPr>
        <p:spPr>
          <a:xfrm rot="0">
            <a:off x="1028700" y="6415338"/>
            <a:ext cx="12285248" cy="4476750"/>
          </a:xfrm>
          <a:prstGeom prst="rect">
            <a:avLst/>
          </a:prstGeom>
        </p:spPr>
        <p:txBody>
          <a:bodyPr anchor="t" rtlCol="false" tIns="0" lIns="0" bIns="0" rIns="0">
            <a:spAutoFit/>
          </a:bodyPr>
          <a:lstStyle/>
          <a:p>
            <a:pPr algn="l">
              <a:lnSpc>
                <a:spcPts val="2801"/>
              </a:lnSpc>
            </a:pPr>
            <a:r>
              <a:rPr lang="en-US" b="true" sz="2334" spc="-11">
                <a:solidFill>
                  <a:srgbClr val="3C5366"/>
                </a:solidFill>
                <a:latin typeface="Inter Bold"/>
                <a:ea typeface="Inter Bold"/>
                <a:cs typeface="Inter Bold"/>
                <a:sym typeface="Inter Bold"/>
              </a:rPr>
              <a:t>Net Worth Drivers </a:t>
            </a:r>
          </a:p>
          <a:p>
            <a:pPr algn="l">
              <a:lnSpc>
                <a:spcPts val="2801"/>
              </a:lnSpc>
            </a:pPr>
            <a:r>
              <a:rPr lang="en-US" b="true" sz="2334" spc="-11">
                <a:solidFill>
                  <a:srgbClr val="3C5366"/>
                </a:solidFill>
                <a:latin typeface="Inter Bold"/>
                <a:ea typeface="Inter Bold"/>
                <a:cs typeface="Inter Bold"/>
                <a:sym typeface="Inter Bold"/>
              </a:rPr>
              <a:t>Strong positive correlation with:</a:t>
            </a:r>
          </a:p>
          <a:p>
            <a:pPr algn="l" marL="504029" indent="-252014" lvl="1">
              <a:lnSpc>
                <a:spcPts val="2801"/>
              </a:lnSpc>
              <a:buFont typeface="Arial"/>
              <a:buChar char="•"/>
            </a:pPr>
            <a:r>
              <a:rPr lang="en-US" b="true" sz="2334" spc="-11">
                <a:solidFill>
                  <a:srgbClr val="3C5366"/>
                </a:solidFill>
                <a:latin typeface="Inter Bold"/>
                <a:ea typeface="Inter Bold"/>
                <a:cs typeface="Inter Bold"/>
                <a:sym typeface="Inter Bold"/>
              </a:rPr>
              <a:t>property value</a:t>
            </a:r>
          </a:p>
          <a:p>
            <a:pPr algn="l" marL="504029" indent="-252014" lvl="1">
              <a:lnSpc>
                <a:spcPts val="2801"/>
              </a:lnSpc>
              <a:buFont typeface="Arial"/>
              <a:buChar char="•"/>
            </a:pPr>
            <a:r>
              <a:rPr lang="en-US" b="true" sz="2334" spc="-11">
                <a:solidFill>
                  <a:srgbClr val="3C5366"/>
                </a:solidFill>
                <a:latin typeface="Inter Bold"/>
                <a:ea typeface="Inter Bold"/>
                <a:cs typeface="Inter Bold"/>
                <a:sym typeface="Inter Bold"/>
              </a:rPr>
              <a:t>bank deposits </a:t>
            </a:r>
          </a:p>
          <a:p>
            <a:pPr algn="l" marL="504029" indent="-252014" lvl="1">
              <a:lnSpc>
                <a:spcPts val="2801"/>
              </a:lnSpc>
              <a:buFont typeface="Arial"/>
              <a:buChar char="•"/>
            </a:pPr>
            <a:r>
              <a:rPr lang="en-US" b="true" sz="2334" spc="-11">
                <a:solidFill>
                  <a:srgbClr val="3C5366"/>
                </a:solidFill>
                <a:latin typeface="Inter Bold"/>
                <a:ea typeface="Inter Bold"/>
                <a:cs typeface="Inter Bold"/>
                <a:sym typeface="Inter Bold"/>
              </a:rPr>
              <a:t>TFSA balance </a:t>
            </a:r>
          </a:p>
          <a:p>
            <a:pPr algn="l" marL="504029" indent="-252014" lvl="1">
              <a:lnSpc>
                <a:spcPts val="2801"/>
              </a:lnSpc>
              <a:buFont typeface="Arial"/>
              <a:buChar char="•"/>
            </a:pPr>
            <a:r>
              <a:rPr lang="en-US" sz="2334" spc="-11">
                <a:solidFill>
                  <a:srgbClr val="3C5366"/>
                </a:solidFill>
                <a:latin typeface="Inter"/>
                <a:ea typeface="Inter"/>
                <a:cs typeface="Inter"/>
                <a:sym typeface="Inter"/>
              </a:rPr>
              <a:t>(</a:t>
            </a:r>
            <a:r>
              <a:rPr lang="en-US" b="true" sz="2334" spc="-11">
                <a:solidFill>
                  <a:srgbClr val="3C5366"/>
                </a:solidFill>
                <a:latin typeface="Inter Bold"/>
                <a:ea typeface="Inter Bold"/>
                <a:cs typeface="Inter Bold"/>
                <a:sym typeface="Inter Bold"/>
              </a:rPr>
              <a:t>income)</a:t>
            </a:r>
          </a:p>
          <a:p>
            <a:pPr algn="l">
              <a:lnSpc>
                <a:spcPts val="2801"/>
              </a:lnSpc>
            </a:pPr>
            <a:r>
              <a:rPr lang="en-US" b="true" sz="2334" spc="-11">
                <a:solidFill>
                  <a:srgbClr val="3C5366"/>
                </a:solidFill>
                <a:latin typeface="Inter Bold"/>
                <a:ea typeface="Inter Bold"/>
                <a:cs typeface="Inter Bold"/>
                <a:sym typeface="Inter Bold"/>
              </a:rPr>
              <a:t>Asset Correlations:</a:t>
            </a:r>
          </a:p>
          <a:p>
            <a:pPr algn="l" marL="504029" indent="-252014" lvl="1">
              <a:lnSpc>
                <a:spcPts val="2801"/>
              </a:lnSpc>
              <a:buFont typeface="Arial"/>
              <a:buChar char="•"/>
            </a:pPr>
            <a:r>
              <a:rPr lang="en-US" b="true" sz="2334" spc="-11">
                <a:solidFill>
                  <a:srgbClr val="3C5366"/>
                </a:solidFill>
                <a:latin typeface="Inter Bold"/>
                <a:ea typeface="Inter Bold"/>
                <a:cs typeface="Inter Bold"/>
                <a:sym typeface="Inter Bold"/>
              </a:rPr>
              <a:t>Home value (strongly)  mortgage debt  - expected</a:t>
            </a:r>
          </a:p>
          <a:p>
            <a:pPr algn="l" marL="504029" indent="-252014" lvl="1">
              <a:lnSpc>
                <a:spcPts val="2801"/>
              </a:lnSpc>
              <a:buFont typeface="Arial"/>
              <a:buChar char="•"/>
            </a:pPr>
            <a:r>
              <a:rPr lang="en-US" b="true" sz="2334" spc="-11">
                <a:solidFill>
                  <a:srgbClr val="3C5366"/>
                </a:solidFill>
                <a:latin typeface="Inter Bold"/>
                <a:ea typeface="Inter Bold"/>
                <a:cs typeface="Inter Bold"/>
                <a:sym typeface="Inter Bold"/>
              </a:rPr>
              <a:t>Liquid assets bank deposits + TFSA correlate with each other and net worth</a:t>
            </a:r>
          </a:p>
          <a:p>
            <a:pPr algn="l">
              <a:lnSpc>
                <a:spcPts val="2801"/>
              </a:lnSpc>
            </a:pPr>
          </a:p>
          <a:p>
            <a:pPr algn="l">
              <a:lnSpc>
                <a:spcPts val="7437"/>
              </a:lnSpc>
            </a:pPr>
          </a:p>
        </p:txBody>
      </p:sp>
      <p:sp>
        <p:nvSpPr>
          <p:cNvPr name="TextBox 11" id="11"/>
          <p:cNvSpPr txBox="true"/>
          <p:nvPr/>
        </p:nvSpPr>
        <p:spPr>
          <a:xfrm rot="0">
            <a:off x="12451508" y="2720501"/>
            <a:ext cx="4669267" cy="6588165"/>
          </a:xfrm>
          <a:prstGeom prst="rect">
            <a:avLst/>
          </a:prstGeom>
        </p:spPr>
        <p:txBody>
          <a:bodyPr anchor="t" rtlCol="false" tIns="0" lIns="0" bIns="0" rIns="0">
            <a:spAutoFit/>
          </a:bodyPr>
          <a:lstStyle/>
          <a:p>
            <a:pPr algn="l">
              <a:lnSpc>
                <a:spcPts val="3521"/>
              </a:lnSpc>
            </a:pPr>
            <a:r>
              <a:rPr lang="en-US" sz="2934" b="true">
                <a:solidFill>
                  <a:srgbClr val="3C5366"/>
                </a:solidFill>
                <a:latin typeface="Inter Bold"/>
                <a:ea typeface="Inter Bold"/>
                <a:cs typeface="Inter Bold"/>
                <a:sym typeface="Inter Bold"/>
              </a:rPr>
              <a:t> The constant can be seen as an indicator of average life standard</a:t>
            </a:r>
          </a:p>
          <a:p>
            <a:pPr algn="l">
              <a:lnSpc>
                <a:spcPts val="3521"/>
              </a:lnSpc>
            </a:pPr>
          </a:p>
          <a:p>
            <a:pPr algn="l">
              <a:lnSpc>
                <a:spcPts val="3521"/>
              </a:lnSpc>
            </a:pPr>
            <a:r>
              <a:rPr lang="en-US" sz="2934" b="true">
                <a:solidFill>
                  <a:srgbClr val="3C5366"/>
                </a:solidFill>
                <a:latin typeface="Inter Bold"/>
                <a:ea typeface="Inter Bold"/>
                <a:cs typeface="Inter Bold"/>
                <a:sym typeface="Inter Bold"/>
              </a:rPr>
              <a:t>-5.61</a:t>
            </a:r>
          </a:p>
          <a:p>
            <a:pPr algn="l">
              <a:lnSpc>
                <a:spcPts val="3521"/>
              </a:lnSpc>
            </a:pPr>
          </a:p>
          <a:p>
            <a:pPr algn="l">
              <a:lnSpc>
                <a:spcPts val="3521"/>
              </a:lnSpc>
            </a:pPr>
            <a:r>
              <a:rPr lang="en-US" sz="2934" b="true">
                <a:solidFill>
                  <a:srgbClr val="3C5366"/>
                </a:solidFill>
                <a:latin typeface="Inter Bold"/>
                <a:ea typeface="Inter Bold"/>
                <a:cs typeface="Inter Bold"/>
                <a:sym typeface="Inter Bold"/>
              </a:rPr>
              <a:t>net book value is 0</a:t>
            </a:r>
          </a:p>
          <a:p>
            <a:pPr algn="l">
              <a:lnSpc>
                <a:spcPts val="3521"/>
              </a:lnSpc>
            </a:pPr>
            <a:r>
              <a:rPr lang="en-US" sz="2934" b="true">
                <a:solidFill>
                  <a:srgbClr val="3C5366"/>
                </a:solidFill>
                <a:latin typeface="Inter Bold"/>
                <a:ea typeface="Inter Bold"/>
                <a:cs typeface="Inter Bold"/>
                <a:sym typeface="Inter Bold"/>
              </a:rPr>
              <a:t>= - net worth</a:t>
            </a:r>
          </a:p>
          <a:p>
            <a:pPr algn="l">
              <a:lnSpc>
                <a:spcPts val="3521"/>
              </a:lnSpc>
            </a:pPr>
          </a:p>
          <a:p>
            <a:pPr algn="l">
              <a:lnSpc>
                <a:spcPts val="3521"/>
              </a:lnSpc>
            </a:pPr>
            <a:r>
              <a:rPr lang="en-US" sz="2934" b="true">
                <a:solidFill>
                  <a:srgbClr val="3C5366"/>
                </a:solidFill>
                <a:latin typeface="Inter Bold"/>
                <a:ea typeface="Inter Bold"/>
                <a:cs typeface="Inter Bold"/>
                <a:sym typeface="Inter Bold"/>
              </a:rPr>
              <a:t>&gt;0 imposible?</a:t>
            </a:r>
          </a:p>
          <a:p>
            <a:pPr algn="l">
              <a:lnSpc>
                <a:spcPts val="3521"/>
              </a:lnSpc>
            </a:pPr>
          </a:p>
          <a:p>
            <a:pPr algn="l">
              <a:lnSpc>
                <a:spcPts val="3521"/>
              </a:lnSpc>
            </a:pPr>
            <a:r>
              <a:rPr lang="en-US" sz="2934" b="true">
                <a:solidFill>
                  <a:srgbClr val="3C5366"/>
                </a:solidFill>
                <a:latin typeface="Inter Bold"/>
                <a:ea typeface="Inter Bold"/>
                <a:cs typeface="Inter Bold"/>
                <a:sym typeface="Inter Bold"/>
              </a:rPr>
              <a:t>= 0 welfare state</a:t>
            </a:r>
          </a:p>
          <a:p>
            <a:pPr algn="l">
              <a:lnSpc>
                <a:spcPts val="3521"/>
              </a:lnSpc>
            </a:pPr>
          </a:p>
          <a:p>
            <a:pPr algn="l">
              <a:lnSpc>
                <a:spcPts val="3521"/>
              </a:lnSpc>
            </a:pPr>
            <a:r>
              <a:rPr lang="en-US" sz="2934" b="true">
                <a:solidFill>
                  <a:srgbClr val="3C5366"/>
                </a:solidFill>
                <a:latin typeface="Inter Bold"/>
                <a:ea typeface="Inter Bold"/>
                <a:cs typeface="Inter Bold"/>
                <a:sym typeface="Inter Bold"/>
              </a:rPr>
              <a:t>&lt;0 what’s shown in dataset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31429" y="2807690"/>
            <a:ext cx="7314773" cy="5750608"/>
          </a:xfrm>
          <a:custGeom>
            <a:avLst/>
            <a:gdLst/>
            <a:ahLst/>
            <a:cxnLst/>
            <a:rect r="r" b="b" t="t" l="l"/>
            <a:pathLst>
              <a:path h="5750608" w="7314773">
                <a:moveTo>
                  <a:pt x="0" y="0"/>
                </a:moveTo>
                <a:lnTo>
                  <a:pt x="7314774" y="0"/>
                </a:lnTo>
                <a:lnTo>
                  <a:pt x="7314774" y="5750608"/>
                </a:lnTo>
                <a:lnTo>
                  <a:pt x="0" y="5750608"/>
                </a:lnTo>
                <a:lnTo>
                  <a:pt x="0" y="0"/>
                </a:lnTo>
                <a:close/>
              </a:path>
            </a:pathLst>
          </a:custGeom>
          <a:blipFill>
            <a:blip r:embed="rId7"/>
            <a:stretch>
              <a:fillRect l="0" t="0" r="0" b="0"/>
            </a:stretch>
          </a:blipFill>
        </p:spPr>
      </p:sp>
      <p:sp>
        <p:nvSpPr>
          <p:cNvPr name="TextBox 7" id="7"/>
          <p:cNvSpPr txBox="true"/>
          <p:nvPr/>
        </p:nvSpPr>
        <p:spPr>
          <a:xfrm rot="0">
            <a:off x="1531429" y="895102"/>
            <a:ext cx="15225151" cy="1628775"/>
          </a:xfrm>
          <a:prstGeom prst="rect">
            <a:avLst/>
          </a:prstGeom>
        </p:spPr>
        <p:txBody>
          <a:bodyPr anchor="t" rtlCol="false" tIns="0" lIns="0" bIns="0" rIns="0">
            <a:spAutoFit/>
          </a:bodyPr>
          <a:lstStyle/>
          <a:p>
            <a:pPr algn="ctr">
              <a:lnSpc>
                <a:spcPts val="6480"/>
              </a:lnSpc>
            </a:pPr>
            <a:r>
              <a:rPr lang="en-US" b="true" sz="5400" spc="-97">
                <a:solidFill>
                  <a:srgbClr val="1A1A1A"/>
                </a:solidFill>
                <a:latin typeface="Inter Bold"/>
                <a:ea typeface="Inter Bold"/>
                <a:cs typeface="Inter Bold"/>
                <a:sym typeface="Inter Bold"/>
              </a:rPr>
              <a:t>COVID-19 Financial Impact</a:t>
            </a:r>
          </a:p>
          <a:p>
            <a:pPr algn="ctr">
              <a:lnSpc>
                <a:spcPts val="6480"/>
              </a:lnSpc>
            </a:pPr>
          </a:p>
        </p:txBody>
      </p:sp>
      <p:sp>
        <p:nvSpPr>
          <p:cNvPr name="TextBox 8" id="8"/>
          <p:cNvSpPr txBox="true"/>
          <p:nvPr/>
        </p:nvSpPr>
        <p:spPr>
          <a:xfrm rot="0">
            <a:off x="8970596" y="1038225"/>
            <a:ext cx="7314773" cy="1066800"/>
          </a:xfrm>
          <a:prstGeom prst="rect">
            <a:avLst/>
          </a:prstGeom>
        </p:spPr>
        <p:txBody>
          <a:bodyPr anchor="t" rtlCol="false" tIns="0" lIns="0" bIns="0" rIns="0">
            <a:spAutoFit/>
          </a:bodyPr>
          <a:lstStyle/>
          <a:p>
            <a:pPr algn="ctr">
              <a:lnSpc>
                <a:spcPts val="6480"/>
              </a:lnSpc>
              <a:spcBef>
                <a:spcPct val="0"/>
              </a:spcBef>
            </a:pPr>
          </a:p>
          <a:p>
            <a:pPr algn="ctr">
              <a:lnSpc>
                <a:spcPts val="2039"/>
              </a:lnSpc>
              <a:spcBef>
                <a:spcPct val="0"/>
              </a:spcBef>
            </a:pPr>
            <a:r>
              <a:rPr lang="en-US" sz="1699" spc="-30">
                <a:solidFill>
                  <a:srgbClr val="3C5366"/>
                </a:solidFill>
                <a:latin typeface="Inter"/>
                <a:ea typeface="Inter"/>
                <a:cs typeface="Inter"/>
                <a:sym typeface="Inter"/>
              </a:rPr>
              <a:t>The COVID-19 pandemic had varied financial impacts across households.</a:t>
            </a:r>
          </a:p>
        </p:txBody>
      </p:sp>
      <p:sp>
        <p:nvSpPr>
          <p:cNvPr name="TextBox 9" id="9"/>
          <p:cNvSpPr txBox="true"/>
          <p:nvPr/>
        </p:nvSpPr>
        <p:spPr>
          <a:xfrm rot="0">
            <a:off x="9697449" y="2514352"/>
            <a:ext cx="7444527" cy="1533513"/>
          </a:xfrm>
          <a:prstGeom prst="rect">
            <a:avLst/>
          </a:prstGeom>
        </p:spPr>
        <p:txBody>
          <a:bodyPr anchor="t" rtlCol="false" tIns="0" lIns="0" bIns="0" rIns="0">
            <a:spAutoFit/>
          </a:bodyPr>
          <a:lstStyle/>
          <a:p>
            <a:pPr algn="ctr">
              <a:lnSpc>
                <a:spcPts val="2411"/>
              </a:lnSpc>
              <a:spcBef>
                <a:spcPct val="0"/>
              </a:spcBef>
            </a:pPr>
            <a:r>
              <a:rPr lang="en-US" sz="2009" spc="-36">
                <a:solidFill>
                  <a:srgbClr val="3C5366"/>
                </a:solidFill>
                <a:latin typeface="Inter"/>
                <a:ea typeface="Inter"/>
                <a:cs typeface="Inter"/>
                <a:sym typeface="Inter"/>
              </a:rPr>
              <a:t>COVID</a:t>
            </a:r>
            <a:r>
              <a:rPr lang="en-US" sz="2009" spc="-36">
                <a:solidFill>
                  <a:srgbClr val="3C5366"/>
                </a:solidFill>
                <a:latin typeface="Inter"/>
                <a:ea typeface="Inter"/>
                <a:cs typeface="Inter"/>
                <a:sym typeface="Inter"/>
              </a:rPr>
              <a:t> Impact Distribution:</a:t>
            </a:r>
          </a:p>
          <a:p>
            <a:pPr algn="ctr" marL="433805" indent="-216902" lvl="1">
              <a:lnSpc>
                <a:spcPts val="2411"/>
              </a:lnSpc>
              <a:spcBef>
                <a:spcPct val="0"/>
              </a:spcBef>
              <a:buFont typeface="Arial"/>
              <a:buChar char="•"/>
            </a:pPr>
            <a:r>
              <a:rPr lang="en-US" sz="2009" spc="-36">
                <a:solidFill>
                  <a:srgbClr val="3C5366"/>
                </a:solidFill>
                <a:latin typeface="Inter"/>
                <a:ea typeface="Inter"/>
                <a:cs typeface="Inter"/>
                <a:sym typeface="Inter"/>
              </a:rPr>
              <a:t>Stayed the same: 9,432 households 58.2%</a:t>
            </a:r>
          </a:p>
          <a:p>
            <a:pPr algn="ctr" marL="433805" indent="-216902" lvl="1">
              <a:lnSpc>
                <a:spcPts val="2411"/>
              </a:lnSpc>
              <a:spcBef>
                <a:spcPct val="0"/>
              </a:spcBef>
              <a:buFont typeface="Arial"/>
              <a:buChar char="•"/>
            </a:pPr>
            <a:r>
              <a:rPr lang="en-US" sz="2009" spc="-36">
                <a:solidFill>
                  <a:srgbClr val="3C5366"/>
                </a:solidFill>
                <a:latin typeface="Inter"/>
                <a:ea typeface="Inter"/>
                <a:cs typeface="Inter"/>
                <a:sym typeface="Inter"/>
              </a:rPr>
              <a:t>Worsened: 4,982 households 30.7%</a:t>
            </a:r>
          </a:p>
          <a:p>
            <a:pPr algn="ctr" marL="433805" indent="-216902" lvl="1">
              <a:lnSpc>
                <a:spcPts val="2411"/>
              </a:lnSpc>
              <a:spcBef>
                <a:spcPct val="0"/>
              </a:spcBef>
              <a:buFont typeface="Arial"/>
              <a:buChar char="•"/>
            </a:pPr>
            <a:r>
              <a:rPr lang="en-US" sz="2009" spc="-36">
                <a:solidFill>
                  <a:srgbClr val="3C5366"/>
                </a:solidFill>
                <a:latin typeface="Inter"/>
                <a:ea typeface="Inter"/>
                <a:cs typeface="Inter"/>
                <a:sym typeface="Inter"/>
              </a:rPr>
              <a:t>Improved: 1,794 households 11.1%</a:t>
            </a:r>
          </a:p>
          <a:p>
            <a:pPr algn="ctr">
              <a:lnSpc>
                <a:spcPts val="2411"/>
              </a:lnSpc>
              <a:spcBef>
                <a:spcPct val="0"/>
              </a:spcBef>
            </a:pPr>
          </a:p>
        </p:txBody>
      </p:sp>
      <p:sp>
        <p:nvSpPr>
          <p:cNvPr name="TextBox 10" id="10"/>
          <p:cNvSpPr txBox="true"/>
          <p:nvPr/>
        </p:nvSpPr>
        <p:spPr>
          <a:xfrm rot="0">
            <a:off x="9351028" y="3868605"/>
            <a:ext cx="7597667" cy="7600950"/>
          </a:xfrm>
          <a:prstGeom prst="rect">
            <a:avLst/>
          </a:prstGeom>
        </p:spPr>
        <p:txBody>
          <a:bodyPr anchor="t" rtlCol="false" tIns="0" lIns="0" bIns="0" rIns="0">
            <a:spAutoFit/>
          </a:bodyPr>
          <a:lstStyle/>
          <a:p>
            <a:pPr algn="l">
              <a:lnSpc>
                <a:spcPts val="2752"/>
              </a:lnSpc>
            </a:pPr>
            <a:r>
              <a:rPr lang="en-US" b="true" sz="2293" spc="-41">
                <a:solidFill>
                  <a:srgbClr val="3C5366"/>
                </a:solidFill>
                <a:latin typeface="Inter Bold"/>
                <a:ea typeface="Inter Bold"/>
                <a:cs typeface="Inter Bold"/>
                <a:sym typeface="Inter Bold"/>
              </a:rPr>
              <a:t>COVID</a:t>
            </a:r>
            <a:r>
              <a:rPr lang="en-US" b="true" sz="2293" spc="-41">
                <a:solidFill>
                  <a:srgbClr val="3C5366"/>
                </a:solidFill>
                <a:latin typeface="Inter Semi-Bold"/>
                <a:ea typeface="Inter Semi-Bold"/>
                <a:cs typeface="Inter Semi-Bold"/>
                <a:sym typeface="Inter Semi-Bold"/>
              </a:rPr>
              <a:t> Impact Analysis:</a:t>
            </a:r>
          </a:p>
          <a:p>
            <a:pPr algn="l">
              <a:lnSpc>
                <a:spcPts val="2752"/>
              </a:lnSpc>
            </a:pPr>
            <a:r>
              <a:rPr lang="en-US" sz="2293" spc="-41">
                <a:solidFill>
                  <a:srgbClr val="3C5366"/>
                </a:solidFill>
                <a:latin typeface="Inter"/>
                <a:ea typeface="Inter"/>
                <a:cs typeface="Inter"/>
                <a:sym typeface="Inter"/>
              </a:rPr>
              <a:t>1. </a:t>
            </a:r>
            <a:r>
              <a:rPr lang="en-US" b="true" sz="2293" spc="-41">
                <a:solidFill>
                  <a:srgbClr val="3C5366"/>
                </a:solidFill>
                <a:latin typeface="Inter Semi-Bold"/>
                <a:ea typeface="Inter Semi-Bold"/>
                <a:cs typeface="Inter Semi-Bold"/>
                <a:sym typeface="Inter Semi-Bold"/>
              </a:rPr>
              <a:t>Majority Stable:</a:t>
            </a:r>
            <a:r>
              <a:rPr lang="en-US" sz="2293" spc="-41">
                <a:solidFill>
                  <a:srgbClr val="3C5366"/>
                </a:solidFill>
                <a:latin typeface="Inter"/>
                <a:ea typeface="Inter"/>
                <a:cs typeface="Inter"/>
                <a:sym typeface="Inter"/>
              </a:rPr>
              <a:t>58%  no change </a:t>
            </a:r>
          </a:p>
          <a:p>
            <a:pPr algn="l">
              <a:lnSpc>
                <a:spcPts val="2752"/>
              </a:lnSpc>
            </a:pPr>
            <a:r>
              <a:rPr lang="en-US" sz="2293" spc="-41">
                <a:solidFill>
                  <a:srgbClr val="3C5366"/>
                </a:solidFill>
                <a:latin typeface="Inter"/>
                <a:ea typeface="Inter"/>
                <a:cs typeface="Inter"/>
                <a:sym typeface="Inter"/>
              </a:rPr>
              <a:t>household </a:t>
            </a:r>
            <a:r>
              <a:rPr lang="en-US" b="true" sz="2293" spc="-41">
                <a:solidFill>
                  <a:srgbClr val="3C5366"/>
                </a:solidFill>
                <a:latin typeface="Inter Bold"/>
                <a:ea typeface="Inter Bold"/>
                <a:cs typeface="Inter Bold"/>
                <a:sym typeface="Inter Bold"/>
              </a:rPr>
              <a:t>savings</a:t>
            </a:r>
            <a:r>
              <a:rPr lang="en-US" sz="2293" spc="-41">
                <a:solidFill>
                  <a:srgbClr val="3C5366"/>
                </a:solidFill>
                <a:latin typeface="Inter"/>
                <a:ea typeface="Inter"/>
                <a:cs typeface="Inter"/>
                <a:sym typeface="Inter"/>
              </a:rPr>
              <a:t> &amp; </a:t>
            </a:r>
            <a:r>
              <a:rPr lang="en-US" b="true" sz="2293" spc="-41">
                <a:solidFill>
                  <a:srgbClr val="3C5366"/>
                </a:solidFill>
                <a:latin typeface="Inter Bold"/>
                <a:ea typeface="Inter Bold"/>
                <a:cs typeface="Inter Bold"/>
                <a:sym typeface="Inter Bold"/>
              </a:rPr>
              <a:t>government</a:t>
            </a:r>
            <a:r>
              <a:rPr lang="en-US" sz="2293" spc="-41">
                <a:solidFill>
                  <a:srgbClr val="3C5366"/>
                </a:solidFill>
                <a:latin typeface="Inter"/>
                <a:ea typeface="Inter"/>
                <a:cs typeface="Inter"/>
                <a:sym typeface="Inter"/>
              </a:rPr>
              <a:t> </a:t>
            </a:r>
            <a:r>
              <a:rPr lang="en-US" b="true" sz="2293" spc="-41">
                <a:solidFill>
                  <a:srgbClr val="3C5366"/>
                </a:solidFill>
                <a:latin typeface="Inter Bold"/>
                <a:ea typeface="Inter Bold"/>
                <a:cs typeface="Inter Bold"/>
                <a:sym typeface="Inter Bold"/>
              </a:rPr>
              <a:t>support</a:t>
            </a:r>
            <a:r>
              <a:rPr lang="en-US" sz="2293" spc="-41">
                <a:solidFill>
                  <a:srgbClr val="3C5366"/>
                </a:solidFill>
                <a:latin typeface="Inter"/>
                <a:ea typeface="Inter"/>
                <a:cs typeface="Inter"/>
                <a:sym typeface="Inter"/>
              </a:rPr>
              <a:t> programs CERB, etc. were </a:t>
            </a:r>
            <a:r>
              <a:rPr lang="en-US" b="true" sz="2293" spc="-41">
                <a:solidFill>
                  <a:srgbClr val="3C5366"/>
                </a:solidFill>
                <a:latin typeface="Inter Bold"/>
                <a:ea typeface="Inter Bold"/>
                <a:cs typeface="Inter Bold"/>
                <a:sym typeface="Inter Bold"/>
              </a:rPr>
              <a:t>effective</a:t>
            </a:r>
            <a:r>
              <a:rPr lang="en-US" sz="2293" spc="-41">
                <a:solidFill>
                  <a:srgbClr val="3C5366"/>
                </a:solidFill>
                <a:latin typeface="Inter"/>
                <a:ea typeface="Inter"/>
                <a:cs typeface="Inter"/>
                <a:sym typeface="Inter"/>
              </a:rPr>
              <a:t>.</a:t>
            </a:r>
          </a:p>
          <a:p>
            <a:pPr algn="l">
              <a:lnSpc>
                <a:spcPts val="2752"/>
              </a:lnSpc>
            </a:pPr>
            <a:r>
              <a:rPr lang="en-US" sz="2293" spc="-41">
                <a:solidFill>
                  <a:srgbClr val="3C5366"/>
                </a:solidFill>
                <a:latin typeface="Inter"/>
                <a:ea typeface="Inter"/>
                <a:cs typeface="Inter"/>
                <a:sym typeface="Inter"/>
              </a:rPr>
              <a:t>2. </a:t>
            </a:r>
            <a:r>
              <a:rPr lang="en-US" b="true" sz="2293" spc="-41">
                <a:solidFill>
                  <a:srgbClr val="3C5366"/>
                </a:solidFill>
                <a:latin typeface="Inter Semi-Bold"/>
                <a:ea typeface="Inter Semi-Bold"/>
                <a:cs typeface="Inter Semi-Bold"/>
                <a:sym typeface="Inter Semi-Bold"/>
              </a:rPr>
              <a:t>Negative Impact:</a:t>
            </a:r>
            <a:r>
              <a:rPr lang="en-US" sz="2293" spc="-41">
                <a:solidFill>
                  <a:srgbClr val="3C5366"/>
                </a:solidFill>
                <a:latin typeface="Inter"/>
                <a:ea typeface="Inter"/>
                <a:cs typeface="Inter"/>
                <a:sym typeface="Inter"/>
              </a:rPr>
              <a:t>31%  worsening</a:t>
            </a:r>
          </a:p>
          <a:p>
            <a:pPr algn="l">
              <a:lnSpc>
                <a:spcPts val="2752"/>
              </a:lnSpc>
            </a:pPr>
            <a:r>
              <a:rPr lang="en-US" b="true" sz="2293" spc="-41">
                <a:solidFill>
                  <a:srgbClr val="3C5366"/>
                </a:solidFill>
                <a:latin typeface="Inter Bold"/>
                <a:ea typeface="Inter Bold"/>
                <a:cs typeface="Inter Bold"/>
                <a:sym typeface="Inter Bold"/>
              </a:rPr>
              <a:t>Low</a:t>
            </a:r>
            <a:r>
              <a:rPr lang="en-US" sz="2293" spc="-41">
                <a:solidFill>
                  <a:srgbClr val="3C5366"/>
                </a:solidFill>
                <a:latin typeface="Inter"/>
                <a:ea typeface="Inter"/>
                <a:cs typeface="Inter"/>
                <a:sym typeface="Inter"/>
              </a:rPr>
              <a:t>-income households</a:t>
            </a:r>
          </a:p>
          <a:p>
            <a:pPr algn="l">
              <a:lnSpc>
                <a:spcPts val="2752"/>
              </a:lnSpc>
            </a:pPr>
            <a:r>
              <a:rPr lang="en-US" b="true" sz="2293" spc="-41">
                <a:solidFill>
                  <a:srgbClr val="3C5366"/>
                </a:solidFill>
                <a:latin typeface="Inter Bold"/>
                <a:ea typeface="Inter Bold"/>
                <a:cs typeface="Inter Bold"/>
                <a:sym typeface="Inter Bold"/>
              </a:rPr>
              <a:t>Service</a:t>
            </a:r>
            <a:r>
              <a:rPr lang="en-US" sz="2293" spc="-41">
                <a:solidFill>
                  <a:srgbClr val="3C5366"/>
                </a:solidFill>
                <a:latin typeface="Inter"/>
                <a:ea typeface="Inter"/>
                <a:cs typeface="Inter"/>
                <a:sym typeface="Inter"/>
              </a:rPr>
              <a:t> sector workers</a:t>
            </a:r>
          </a:p>
          <a:p>
            <a:pPr algn="l">
              <a:lnSpc>
                <a:spcPts val="2752"/>
              </a:lnSpc>
            </a:pPr>
            <a:r>
              <a:rPr lang="en-US" b="true" sz="2293" spc="-41">
                <a:solidFill>
                  <a:srgbClr val="3C5366"/>
                </a:solidFill>
                <a:latin typeface="Inter Bold"/>
                <a:ea typeface="Inter Bold"/>
                <a:cs typeface="Inter Bold"/>
                <a:sym typeface="Inter Bold"/>
              </a:rPr>
              <a:t>Small</a:t>
            </a:r>
            <a:r>
              <a:rPr lang="en-US" sz="2293" spc="-41">
                <a:solidFill>
                  <a:srgbClr val="3C5366"/>
                </a:solidFill>
                <a:latin typeface="Inter"/>
                <a:ea typeface="Inter"/>
                <a:cs typeface="Inter"/>
                <a:sym typeface="Inter"/>
              </a:rPr>
              <a:t> business owners</a:t>
            </a:r>
          </a:p>
          <a:p>
            <a:pPr algn="l">
              <a:lnSpc>
                <a:spcPts val="2752"/>
              </a:lnSpc>
            </a:pPr>
            <a:r>
              <a:rPr lang="en-US" sz="2293" spc="-41">
                <a:solidFill>
                  <a:srgbClr val="3C5366"/>
                </a:solidFill>
                <a:latin typeface="Inter"/>
                <a:ea typeface="Inter"/>
                <a:cs typeface="Inter"/>
                <a:sym typeface="Inter"/>
              </a:rPr>
              <a:t>etc.</a:t>
            </a:r>
          </a:p>
          <a:p>
            <a:pPr algn="l">
              <a:lnSpc>
                <a:spcPts val="2752"/>
              </a:lnSpc>
            </a:pPr>
            <a:r>
              <a:rPr lang="en-US" sz="2293" spc="-41">
                <a:solidFill>
                  <a:srgbClr val="3C5366"/>
                </a:solidFill>
                <a:latin typeface="Inter"/>
                <a:ea typeface="Inter"/>
                <a:cs typeface="Inter"/>
                <a:sym typeface="Inter"/>
              </a:rPr>
              <a:t>3. </a:t>
            </a:r>
            <a:r>
              <a:rPr lang="en-US" b="true" sz="2293" spc="-41">
                <a:solidFill>
                  <a:srgbClr val="3C5366"/>
                </a:solidFill>
                <a:latin typeface="Inter Semi-Bold"/>
                <a:ea typeface="Inter Semi-Bold"/>
                <a:cs typeface="Inter Semi-Bold"/>
                <a:sym typeface="Inter Semi-Bold"/>
              </a:rPr>
              <a:t>Positive Impact:</a:t>
            </a:r>
            <a:r>
              <a:rPr lang="en-US" sz="2293" spc="-41">
                <a:solidFill>
                  <a:srgbClr val="3C5366"/>
                </a:solidFill>
                <a:latin typeface="Inter"/>
                <a:ea typeface="Inter"/>
                <a:cs typeface="Inter"/>
                <a:sym typeface="Inter"/>
              </a:rPr>
              <a:t>11% improvement</a:t>
            </a:r>
          </a:p>
          <a:p>
            <a:pPr algn="l">
              <a:lnSpc>
                <a:spcPts val="2752"/>
              </a:lnSpc>
            </a:pPr>
            <a:r>
              <a:rPr lang="en-US" b="true" sz="2293" spc="-41">
                <a:solidFill>
                  <a:srgbClr val="3C5366"/>
                </a:solidFill>
                <a:latin typeface="Inter Bold"/>
                <a:ea typeface="Inter Bold"/>
                <a:cs typeface="Inter Bold"/>
                <a:sym typeface="Inter Bold"/>
              </a:rPr>
              <a:t>Increased</a:t>
            </a:r>
            <a:r>
              <a:rPr lang="en-US" sz="2293" spc="-41">
                <a:solidFill>
                  <a:srgbClr val="3C5366"/>
                </a:solidFill>
                <a:latin typeface="Inter"/>
                <a:ea typeface="Inter"/>
                <a:cs typeface="Inter"/>
                <a:sym typeface="Inter"/>
              </a:rPr>
              <a:t> savings </a:t>
            </a:r>
            <a:r>
              <a:rPr lang="en-US" b="true" sz="2293" spc="-41">
                <a:solidFill>
                  <a:srgbClr val="3C5366"/>
                </a:solidFill>
                <a:latin typeface="Inter Bold"/>
                <a:ea typeface="Inter Bold"/>
                <a:cs typeface="Inter Bold"/>
                <a:sym typeface="Inter Bold"/>
              </a:rPr>
              <a:t>rates</a:t>
            </a:r>
          </a:p>
          <a:p>
            <a:pPr algn="l">
              <a:lnSpc>
                <a:spcPts val="2752"/>
              </a:lnSpc>
            </a:pPr>
            <a:r>
              <a:rPr lang="en-US" sz="2293" spc="-41">
                <a:solidFill>
                  <a:srgbClr val="3C5366"/>
                </a:solidFill>
                <a:latin typeface="Inter"/>
                <a:ea typeface="Inter"/>
                <a:cs typeface="Inter"/>
                <a:sym typeface="Inter"/>
              </a:rPr>
              <a:t>Investment market gains</a:t>
            </a:r>
          </a:p>
          <a:p>
            <a:pPr algn="l">
              <a:lnSpc>
                <a:spcPts val="2752"/>
              </a:lnSpc>
            </a:pPr>
            <a:r>
              <a:rPr lang="en-US" sz="2293" spc="-41">
                <a:solidFill>
                  <a:srgbClr val="3C5366"/>
                </a:solidFill>
                <a:latin typeface="Inter"/>
                <a:ea typeface="Inter"/>
                <a:cs typeface="Inter"/>
                <a:sym typeface="Inter"/>
              </a:rPr>
              <a:t>Government transfers</a:t>
            </a:r>
          </a:p>
          <a:p>
            <a:pPr algn="l">
              <a:lnSpc>
                <a:spcPts val="2752"/>
              </a:lnSpc>
            </a:pPr>
            <a:r>
              <a:rPr lang="en-US" sz="2293" spc="-41">
                <a:solidFill>
                  <a:srgbClr val="3C5366"/>
                </a:solidFill>
                <a:latin typeface="Inter"/>
                <a:ea typeface="Inter"/>
                <a:cs typeface="Inter"/>
                <a:sym typeface="Inter"/>
              </a:rPr>
              <a:t>4. </a:t>
            </a:r>
            <a:r>
              <a:rPr lang="en-US" b="true" sz="2293" spc="-41">
                <a:solidFill>
                  <a:srgbClr val="3C5366"/>
                </a:solidFill>
                <a:latin typeface="Inter Semi-Bold"/>
                <a:ea typeface="Inter Semi-Bold"/>
                <a:cs typeface="Inter Semi-Bold"/>
                <a:sym typeface="Inter Semi-Bold"/>
              </a:rPr>
              <a:t>Net Worth Correlation:</a:t>
            </a:r>
          </a:p>
          <a:p>
            <a:pPr algn="l">
              <a:lnSpc>
                <a:spcPts val="2752"/>
              </a:lnSpc>
            </a:pPr>
            <a:r>
              <a:rPr lang="en-US" sz="2293" spc="-41">
                <a:solidFill>
                  <a:srgbClr val="3C5366"/>
                </a:solidFill>
                <a:latin typeface="Inter"/>
                <a:ea typeface="Inter"/>
                <a:cs typeface="Inter"/>
                <a:sym typeface="Inter"/>
              </a:rPr>
              <a:t>"</a:t>
            </a:r>
            <a:r>
              <a:rPr lang="en-US" b="true" sz="2293" spc="-41">
                <a:solidFill>
                  <a:srgbClr val="3C5366"/>
                </a:solidFill>
                <a:latin typeface="Inter Bold"/>
                <a:ea typeface="Inter Bold"/>
                <a:cs typeface="Inter Bold"/>
                <a:sym typeface="Inter Bold"/>
              </a:rPr>
              <a:t>stayed same</a:t>
            </a:r>
            <a:r>
              <a:rPr lang="en-US" sz="2293" spc="-41">
                <a:solidFill>
                  <a:srgbClr val="3C5366"/>
                </a:solidFill>
                <a:latin typeface="Inter"/>
                <a:ea typeface="Inter"/>
                <a:cs typeface="Inter"/>
                <a:sym typeface="Inter"/>
              </a:rPr>
              <a:t>" status had the </a:t>
            </a:r>
            <a:r>
              <a:rPr lang="en-US" b="true" sz="2293" spc="-41">
                <a:solidFill>
                  <a:srgbClr val="3C5366"/>
                </a:solidFill>
                <a:latin typeface="Inter Bold"/>
                <a:ea typeface="Inter Bold"/>
                <a:cs typeface="Inter Bold"/>
                <a:sym typeface="Inter Bold"/>
              </a:rPr>
              <a:t>highest</a:t>
            </a:r>
            <a:r>
              <a:rPr lang="en-US" sz="2293" spc="-41">
                <a:solidFill>
                  <a:srgbClr val="3C5366"/>
                </a:solidFill>
                <a:latin typeface="Inter"/>
                <a:ea typeface="Inter"/>
                <a:cs typeface="Inter"/>
                <a:sym typeface="Inter"/>
              </a:rPr>
              <a:t> average </a:t>
            </a:r>
            <a:r>
              <a:rPr lang="en-US" b="true" sz="2293" spc="-41">
                <a:solidFill>
                  <a:srgbClr val="3C5366"/>
                </a:solidFill>
                <a:latin typeface="Inter Bold"/>
                <a:ea typeface="Inter Bold"/>
                <a:cs typeface="Inter Bold"/>
                <a:sym typeface="Inter Bold"/>
              </a:rPr>
              <a:t>net worth</a:t>
            </a:r>
            <a:r>
              <a:rPr lang="en-US" sz="2293" spc="-41">
                <a:solidFill>
                  <a:srgbClr val="3C5366"/>
                </a:solidFill>
                <a:latin typeface="Inter"/>
                <a:ea typeface="Inter"/>
                <a:cs typeface="Inter"/>
                <a:sym typeface="Inter"/>
              </a:rPr>
              <a:t> 1.62M</a:t>
            </a:r>
          </a:p>
          <a:p>
            <a:pPr algn="l">
              <a:lnSpc>
                <a:spcPts val="2752"/>
              </a:lnSpc>
            </a:pPr>
          </a:p>
          <a:p>
            <a:pPr algn="ctr">
              <a:lnSpc>
                <a:spcPts val="7020"/>
              </a:lnSpc>
            </a:pPr>
          </a:p>
          <a:p>
            <a:pPr algn="ctr">
              <a:lnSpc>
                <a:spcPts val="702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9581902" y="2488397"/>
            <a:ext cx="7677398" cy="5310197"/>
            <a:chOff x="0" y="0"/>
            <a:chExt cx="10236530" cy="7080263"/>
          </a:xfrm>
        </p:grpSpPr>
        <p:sp>
          <p:nvSpPr>
            <p:cNvPr name="Freeform 7" id="7"/>
            <p:cNvSpPr/>
            <p:nvPr/>
          </p:nvSpPr>
          <p:spPr>
            <a:xfrm flipH="false" flipV="false" rot="0">
              <a:off x="0" y="0"/>
              <a:ext cx="10236581" cy="7080250"/>
            </a:xfrm>
            <a:custGeom>
              <a:avLst/>
              <a:gdLst/>
              <a:ahLst/>
              <a:cxnLst/>
              <a:rect r="r" b="b" t="t" l="l"/>
              <a:pathLst>
                <a:path h="7080250" w="10236581">
                  <a:moveTo>
                    <a:pt x="0" y="0"/>
                  </a:moveTo>
                  <a:lnTo>
                    <a:pt x="10236581" y="0"/>
                  </a:lnTo>
                  <a:lnTo>
                    <a:pt x="10236581" y="7080250"/>
                  </a:lnTo>
                  <a:lnTo>
                    <a:pt x="0" y="7080250"/>
                  </a:lnTo>
                  <a:lnTo>
                    <a:pt x="0" y="0"/>
                  </a:lnTo>
                  <a:close/>
                </a:path>
              </a:pathLst>
            </a:custGeom>
            <a:blipFill>
              <a:blip r:embed="rId7"/>
              <a:stretch>
                <a:fillRect l="0" t="0" r="0" b="0"/>
              </a:stretch>
            </a:blipFill>
          </p:spPr>
        </p:sp>
      </p:grpSp>
      <p:sp>
        <p:nvSpPr>
          <p:cNvPr name="TextBox 8" id="8"/>
          <p:cNvSpPr txBox="true"/>
          <p:nvPr/>
        </p:nvSpPr>
        <p:spPr>
          <a:xfrm rot="0">
            <a:off x="794537" y="1038225"/>
            <a:ext cx="8469288" cy="1628775"/>
          </a:xfrm>
          <a:prstGeom prst="rect">
            <a:avLst/>
          </a:prstGeom>
        </p:spPr>
        <p:txBody>
          <a:bodyPr anchor="t" rtlCol="false" tIns="0" lIns="0" bIns="0" rIns="0">
            <a:spAutoFit/>
          </a:bodyPr>
          <a:lstStyle/>
          <a:p>
            <a:pPr algn="ctr">
              <a:lnSpc>
                <a:spcPts val="6480"/>
              </a:lnSpc>
              <a:spcBef>
                <a:spcPct val="0"/>
              </a:spcBef>
            </a:pPr>
            <a:r>
              <a:rPr lang="en-US" b="true" sz="5400" spc="-97">
                <a:solidFill>
                  <a:srgbClr val="3C5366"/>
                </a:solidFill>
                <a:latin typeface="Inter Bold"/>
                <a:ea typeface="Inter Bold"/>
                <a:cs typeface="Inter Bold"/>
                <a:sym typeface="Inter Bold"/>
              </a:rPr>
              <a:t>Fin</a:t>
            </a:r>
            <a:r>
              <a:rPr lang="en-US" b="true" sz="5400" spc="-97">
                <a:solidFill>
                  <a:srgbClr val="3C5366"/>
                </a:solidFill>
                <a:latin typeface="Inter Bold"/>
                <a:ea typeface="Inter Bold"/>
                <a:cs typeface="Inter Bold"/>
                <a:sym typeface="Inter Bold"/>
              </a:rPr>
              <a:t>ancial Health Indicators</a:t>
            </a:r>
          </a:p>
          <a:p>
            <a:pPr algn="ctr">
              <a:lnSpc>
                <a:spcPts val="6480"/>
              </a:lnSpc>
              <a:spcBef>
                <a:spcPct val="0"/>
              </a:spcBef>
            </a:pPr>
          </a:p>
        </p:txBody>
      </p:sp>
      <p:sp>
        <p:nvSpPr>
          <p:cNvPr name="TextBox 9" id="9"/>
          <p:cNvSpPr txBox="true"/>
          <p:nvPr/>
        </p:nvSpPr>
        <p:spPr>
          <a:xfrm rot="0">
            <a:off x="714670" y="2473814"/>
            <a:ext cx="9121140" cy="7381875"/>
          </a:xfrm>
          <a:prstGeom prst="rect">
            <a:avLst/>
          </a:prstGeom>
        </p:spPr>
        <p:txBody>
          <a:bodyPr anchor="t" rtlCol="false" tIns="0" lIns="0" bIns="0" rIns="0">
            <a:spAutoFit/>
          </a:bodyPr>
          <a:lstStyle/>
          <a:p>
            <a:pPr algn="l">
              <a:lnSpc>
                <a:spcPts val="3359"/>
              </a:lnSpc>
            </a:pPr>
          </a:p>
          <a:p>
            <a:pPr algn="l">
              <a:lnSpc>
                <a:spcPts val="3359"/>
              </a:lnSpc>
            </a:pPr>
            <a:r>
              <a:rPr lang="en-US" b="true" sz="2799" spc="-13">
                <a:solidFill>
                  <a:srgbClr val="3C5366"/>
                </a:solidFill>
                <a:latin typeface="Inter Bold"/>
                <a:ea typeface="Inter Bold"/>
                <a:cs typeface="Inter Bold"/>
                <a:sym typeface="Inter Bold"/>
              </a:rPr>
              <a:t>Financial Health Distribution:</a:t>
            </a:r>
          </a:p>
          <a:p>
            <a:pPr algn="l">
              <a:lnSpc>
                <a:spcPts val="3359"/>
              </a:lnSpc>
            </a:pPr>
            <a:r>
              <a:rPr lang="en-US" sz="2799" spc="-13" b="true">
                <a:solidFill>
                  <a:srgbClr val="3C5366"/>
                </a:solidFill>
                <a:latin typeface="Inter Bold"/>
                <a:ea typeface="Inter Bold"/>
                <a:cs typeface="Inter Bold"/>
                <a:sym typeface="Inter Bold"/>
              </a:rPr>
              <a:t>66% ---- strong ---- full credit card payments</a:t>
            </a:r>
          </a:p>
          <a:p>
            <a:pPr algn="l">
              <a:lnSpc>
                <a:spcPts val="3359"/>
              </a:lnSpc>
            </a:pPr>
            <a:r>
              <a:rPr lang="en-US" sz="2799" spc="-13" b="true">
                <a:solidFill>
                  <a:srgbClr val="3C5366"/>
                </a:solidFill>
                <a:latin typeface="Inter Bold"/>
                <a:ea typeface="Inter Bold"/>
                <a:cs typeface="Inter Bold"/>
                <a:sym typeface="Inter Bold"/>
              </a:rPr>
              <a:t>26% ---- moderate ---- partial or minimum payments</a:t>
            </a:r>
          </a:p>
          <a:p>
            <a:pPr algn="l">
              <a:lnSpc>
                <a:spcPts val="3359"/>
              </a:lnSpc>
            </a:pPr>
            <a:r>
              <a:rPr lang="en-US" sz="2799" spc="-13" b="true">
                <a:solidFill>
                  <a:srgbClr val="3C5366"/>
                </a:solidFill>
                <a:latin typeface="Inter Bold"/>
                <a:ea typeface="Inter Bold"/>
                <a:cs typeface="Inter Bold"/>
                <a:sym typeface="Inter Bold"/>
              </a:rPr>
              <a:t> 7% ---- financial stress ----skip payments.</a:t>
            </a:r>
          </a:p>
          <a:p>
            <a:pPr algn="l">
              <a:lnSpc>
                <a:spcPts val="3359"/>
              </a:lnSpc>
            </a:pPr>
          </a:p>
          <a:p>
            <a:pPr algn="l">
              <a:lnSpc>
                <a:spcPts val="3359"/>
              </a:lnSpc>
            </a:pPr>
            <a:r>
              <a:rPr lang="en-US" b="true" sz="2799" spc="-13">
                <a:solidFill>
                  <a:srgbClr val="3C5366"/>
                </a:solidFill>
                <a:latin typeface="Inter Bold"/>
                <a:ea typeface="Inter Bold"/>
                <a:cs typeface="Inter Bold"/>
                <a:sym typeface="Inter Bold"/>
              </a:rPr>
              <a:t>key indicators of household financial health.</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Net w</a:t>
            </a:r>
            <a:r>
              <a:rPr lang="en-US" b="true" sz="2599">
                <a:solidFill>
                  <a:srgbClr val="3C5366"/>
                </a:solidFill>
                <a:latin typeface="Inter Bold"/>
                <a:ea typeface="Inter Bold"/>
                <a:cs typeface="Inter Bold"/>
                <a:sym typeface="Inter Bold"/>
              </a:rPr>
              <a:t>orth &gt; median vs &lt; 25%th </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Renting vs Owning  </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Education level</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Diversified asset vs Limited diversification</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E</a:t>
            </a:r>
            <a:r>
              <a:rPr lang="en-US" b="true" sz="2599">
                <a:solidFill>
                  <a:srgbClr val="3C5366"/>
                </a:solidFill>
                <a:latin typeface="Inter Bold"/>
                <a:ea typeface="Inter Bold"/>
                <a:cs typeface="Inter Bold"/>
                <a:sym typeface="Inter Bold"/>
              </a:rPr>
              <a:t>mployment full-time vs Part-time/unemployed</a:t>
            </a:r>
          </a:p>
          <a:p>
            <a:pPr algn="l" marL="561336" indent="-280668" lvl="1">
              <a:lnSpc>
                <a:spcPts val="3119"/>
              </a:lnSpc>
              <a:spcBef>
                <a:spcPct val="0"/>
              </a:spcBef>
              <a:buFont typeface="Arial"/>
              <a:buChar char="•"/>
            </a:pPr>
            <a:r>
              <a:rPr lang="en-US" b="true" sz="2599">
                <a:solidFill>
                  <a:srgbClr val="3C5366"/>
                </a:solidFill>
                <a:latin typeface="Inter Bold"/>
                <a:ea typeface="Inter Bold"/>
                <a:cs typeface="Inter Bold"/>
                <a:sym typeface="Inter Bold"/>
              </a:rPr>
              <a:t>Multiple vs Single earners in household</a:t>
            </a:r>
          </a:p>
          <a:p>
            <a:pPr algn="l">
              <a:lnSpc>
                <a:spcPts val="3119"/>
              </a:lnSpc>
              <a:spcBef>
                <a:spcPct val="0"/>
              </a:spcBef>
            </a:pPr>
          </a:p>
          <a:p>
            <a:pPr algn="l">
              <a:lnSpc>
                <a:spcPts val="3119"/>
              </a:lnSpc>
              <a:spcBef>
                <a:spcPct val="0"/>
              </a:spcBef>
            </a:pPr>
          </a:p>
          <a:p>
            <a:pPr algn="l">
              <a:lnSpc>
                <a:spcPts val="3359"/>
              </a:lnSpc>
              <a:spcBef>
                <a:spcPct val="0"/>
              </a:spcBef>
            </a:pPr>
          </a:p>
          <a:p>
            <a:pPr algn="ctr">
              <a:lnSpc>
                <a:spcPts val="71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389068" y="889502"/>
            <a:ext cx="13509873" cy="1628775"/>
          </a:xfrm>
          <a:prstGeom prst="rect">
            <a:avLst/>
          </a:prstGeom>
        </p:spPr>
        <p:txBody>
          <a:bodyPr anchor="t" rtlCol="false" tIns="0" lIns="0" bIns="0" rIns="0">
            <a:spAutoFit/>
          </a:bodyPr>
          <a:lstStyle/>
          <a:p>
            <a:pPr algn="ctr">
              <a:lnSpc>
                <a:spcPts val="6480"/>
              </a:lnSpc>
            </a:pPr>
            <a:r>
              <a:rPr lang="en-US" b="true" sz="5400" spc="-97">
                <a:solidFill>
                  <a:srgbClr val="3C5366"/>
                </a:solidFill>
                <a:latin typeface="Inter Bold"/>
                <a:ea typeface="Inter Bold"/>
                <a:cs typeface="Inter Bold"/>
                <a:sym typeface="Inter Bold"/>
              </a:rPr>
              <a:t>Pol</a:t>
            </a:r>
            <a:r>
              <a:rPr lang="en-US" b="true" sz="5400" spc="-97">
                <a:solidFill>
                  <a:srgbClr val="3C5366"/>
                </a:solidFill>
                <a:latin typeface="Inter Bold"/>
                <a:ea typeface="Inter Bold"/>
                <a:cs typeface="Inter Bold"/>
                <a:sym typeface="Inter Bold"/>
              </a:rPr>
              <a:t>icy Implications and Recommendation</a:t>
            </a:r>
            <a:r>
              <a:rPr lang="en-US" b="true" sz="5400" spc="-97">
                <a:solidFill>
                  <a:srgbClr val="FFFFFF"/>
                </a:solidFill>
                <a:latin typeface="Inter Bold"/>
                <a:ea typeface="Inter Bold"/>
                <a:cs typeface="Inter Bold"/>
                <a:sym typeface="Inter Bold"/>
              </a:rPr>
              <a:t>s</a:t>
            </a:r>
          </a:p>
          <a:p>
            <a:pPr algn="ctr">
              <a:lnSpc>
                <a:spcPts val="6480"/>
              </a:lnSpc>
            </a:pPr>
          </a:p>
        </p:txBody>
      </p:sp>
      <p:sp>
        <p:nvSpPr>
          <p:cNvPr name="TextBox 7" id="7"/>
          <p:cNvSpPr txBox="true"/>
          <p:nvPr/>
        </p:nvSpPr>
        <p:spPr>
          <a:xfrm rot="0">
            <a:off x="1300846" y="1989937"/>
            <a:ext cx="6478997" cy="6586321"/>
          </a:xfrm>
          <a:prstGeom prst="rect">
            <a:avLst/>
          </a:prstGeom>
        </p:spPr>
        <p:txBody>
          <a:bodyPr anchor="t" rtlCol="false" tIns="0" lIns="0" bIns="0" rIns="0">
            <a:spAutoFit/>
          </a:bodyPr>
          <a:lstStyle/>
          <a:p>
            <a:pPr algn="l" marL="561819" indent="-280910" lvl="1">
              <a:lnSpc>
                <a:spcPts val="3122"/>
              </a:lnSpc>
              <a:buFont typeface="Arial"/>
              <a:buChar char="•"/>
            </a:pPr>
            <a:r>
              <a:rPr lang="en-US" b="true" sz="2602" spc="-46">
                <a:solidFill>
                  <a:srgbClr val="3C5366"/>
                </a:solidFill>
                <a:latin typeface="Inter Bold"/>
                <a:ea typeface="Inter Bold"/>
                <a:cs typeface="Inter Bold"/>
                <a:sym typeface="Inter Bold"/>
              </a:rPr>
              <a:t>Homeownership Support</a:t>
            </a:r>
          </a:p>
          <a:p>
            <a:pPr algn="l" marL="1123639" indent="-374546" lvl="2">
              <a:lnSpc>
                <a:spcPts val="3122"/>
              </a:lnSpc>
              <a:buFont typeface="Arial"/>
              <a:buChar char="⚬"/>
            </a:pPr>
            <a:r>
              <a:rPr lang="en-US" sz="2602" spc="-46">
                <a:solidFill>
                  <a:srgbClr val="3C5366"/>
                </a:solidFill>
                <a:latin typeface="Inter"/>
                <a:ea typeface="Inter"/>
                <a:cs typeface="Inter"/>
                <a:sym typeface="Inter"/>
              </a:rPr>
              <a:t>7.2× wealth gap: owners vs renters</a:t>
            </a:r>
          </a:p>
          <a:p>
            <a:pPr algn="l" marL="1123639" indent="-374546" lvl="2">
              <a:lnSpc>
                <a:spcPts val="3122"/>
              </a:lnSpc>
              <a:buFont typeface="Arial"/>
              <a:buChar char="⚬"/>
            </a:pPr>
            <a:r>
              <a:rPr lang="en-US" b="true" sz="2602" spc="-46">
                <a:solidFill>
                  <a:srgbClr val="3C5366"/>
                </a:solidFill>
                <a:latin typeface="Inter Bold"/>
                <a:ea typeface="Inter Bold"/>
                <a:cs typeface="Inter Bold"/>
                <a:sym typeface="Inter Bold"/>
              </a:rPr>
              <a:t>Down payment assistance</a:t>
            </a:r>
          </a:p>
          <a:p>
            <a:pPr algn="l" marL="1123639" indent="-374546" lvl="2">
              <a:lnSpc>
                <a:spcPts val="3122"/>
              </a:lnSpc>
              <a:buFont typeface="Arial"/>
              <a:buChar char="⚬"/>
            </a:pPr>
            <a:r>
              <a:rPr lang="en-US" b="true" sz="2602" spc="-46">
                <a:solidFill>
                  <a:srgbClr val="3C5366"/>
                </a:solidFill>
                <a:latin typeface="Inter Bold"/>
                <a:ea typeface="Inter Bold"/>
                <a:cs typeface="Inter Bold"/>
                <a:sym typeface="Inter Bold"/>
              </a:rPr>
              <a:t>First-time buyer programs</a:t>
            </a:r>
          </a:p>
          <a:p>
            <a:pPr algn="l" marL="1123639" indent="-374546" lvl="2">
              <a:lnSpc>
                <a:spcPts val="3122"/>
              </a:lnSpc>
              <a:buFont typeface="Arial"/>
              <a:buChar char="⚬"/>
            </a:pPr>
            <a:r>
              <a:rPr lang="en-US" sz="2602" spc="-46">
                <a:solidFill>
                  <a:srgbClr val="3C5366"/>
                </a:solidFill>
                <a:latin typeface="Inter"/>
                <a:ea typeface="Inter"/>
                <a:cs typeface="Inter"/>
                <a:sym typeface="Inter"/>
              </a:rPr>
              <a:t>Affordable housing expansion</a:t>
            </a:r>
          </a:p>
          <a:p>
            <a:pPr algn="l" marL="561819" indent="-280910" lvl="1">
              <a:lnSpc>
                <a:spcPts val="3122"/>
              </a:lnSpc>
              <a:buFont typeface="Arial"/>
              <a:buChar char="•"/>
            </a:pPr>
            <a:r>
              <a:rPr lang="en-US" b="true" sz="2602" spc="-46">
                <a:solidFill>
                  <a:srgbClr val="3C5366"/>
                </a:solidFill>
                <a:latin typeface="Inter Bold"/>
                <a:ea typeface="Inter Bold"/>
                <a:cs typeface="Inter Bold"/>
                <a:sym typeface="Inter Bold"/>
              </a:rPr>
              <a:t>Financial Education</a:t>
            </a:r>
          </a:p>
          <a:p>
            <a:pPr algn="l" marL="1123639" indent="-374546" lvl="2">
              <a:lnSpc>
                <a:spcPts val="3122"/>
              </a:lnSpc>
              <a:buFont typeface="Arial"/>
              <a:buChar char="⚬"/>
            </a:pPr>
            <a:r>
              <a:rPr lang="en-US" sz="2602" spc="-46">
                <a:solidFill>
                  <a:srgbClr val="3C5366"/>
                </a:solidFill>
                <a:latin typeface="Inter"/>
                <a:ea typeface="Inter"/>
                <a:cs typeface="Inter"/>
                <a:sym typeface="Inter"/>
              </a:rPr>
              <a:t>Strong education–wealth link</a:t>
            </a:r>
          </a:p>
          <a:p>
            <a:pPr algn="l" marL="1123639" indent="-374546" lvl="2">
              <a:lnSpc>
                <a:spcPts val="3122"/>
              </a:lnSpc>
              <a:buFont typeface="Arial"/>
              <a:buChar char="⚬"/>
            </a:pPr>
            <a:r>
              <a:rPr lang="en-US" b="true" sz="2602" spc="-46">
                <a:solidFill>
                  <a:srgbClr val="3C5366"/>
                </a:solidFill>
                <a:latin typeface="Inter Bold"/>
                <a:ea typeface="Inter Bold"/>
                <a:cs typeface="Inter Bold"/>
                <a:sym typeface="Inter Bold"/>
              </a:rPr>
              <a:t>Financial literacy programs</a:t>
            </a:r>
          </a:p>
          <a:p>
            <a:pPr algn="l" marL="1123639" indent="-374546" lvl="2">
              <a:lnSpc>
                <a:spcPts val="3122"/>
              </a:lnSpc>
              <a:buFont typeface="Arial"/>
              <a:buChar char="⚬"/>
            </a:pPr>
            <a:r>
              <a:rPr lang="en-US" b="true" sz="2602" spc="-46">
                <a:solidFill>
                  <a:srgbClr val="3C5366"/>
                </a:solidFill>
                <a:latin typeface="Inter Bold"/>
                <a:ea typeface="Inter Bold"/>
                <a:cs typeface="Inter Bold"/>
                <a:sym typeface="Inter Bold"/>
              </a:rPr>
              <a:t>Target: young adults, </a:t>
            </a:r>
          </a:p>
          <a:p>
            <a:pPr algn="l">
              <a:lnSpc>
                <a:spcPts val="3122"/>
              </a:lnSpc>
            </a:pPr>
            <a:r>
              <a:rPr lang="en-US" b="true" sz="2602" spc="-46">
                <a:solidFill>
                  <a:srgbClr val="3C5366"/>
                </a:solidFill>
                <a:latin typeface="Inter Bold"/>
                <a:ea typeface="Inter Bold"/>
                <a:cs typeface="Inter Bold"/>
                <a:sym typeface="Inter Bold"/>
              </a:rPr>
              <a:t>lower-education households</a:t>
            </a:r>
          </a:p>
          <a:p>
            <a:pPr algn="l" marL="561819" indent="-280910" lvl="1">
              <a:lnSpc>
                <a:spcPts val="3122"/>
              </a:lnSpc>
              <a:buFont typeface="Arial"/>
              <a:buChar char="•"/>
            </a:pPr>
            <a:r>
              <a:rPr lang="en-US" b="true" sz="2602" spc="-46">
                <a:solidFill>
                  <a:srgbClr val="3C5366"/>
                </a:solidFill>
                <a:latin typeface="Inter Bold"/>
                <a:ea typeface="Inter Bold"/>
                <a:cs typeface="Inter Bold"/>
                <a:sym typeface="Inter Bold"/>
              </a:rPr>
              <a:t>Debt Management</a:t>
            </a:r>
          </a:p>
          <a:p>
            <a:pPr algn="l" marL="1123639" indent="-374546" lvl="2">
              <a:lnSpc>
                <a:spcPts val="3122"/>
              </a:lnSpc>
              <a:buFont typeface="Arial"/>
              <a:buChar char="⚬"/>
            </a:pPr>
            <a:r>
              <a:rPr lang="en-US" sz="2602" spc="-46">
                <a:solidFill>
                  <a:srgbClr val="3C5366"/>
                </a:solidFill>
                <a:latin typeface="Inter"/>
                <a:ea typeface="Inter"/>
                <a:cs typeface="Inter"/>
                <a:sym typeface="Inter"/>
              </a:rPr>
              <a:t>26% carry balances / pay minimum</a:t>
            </a:r>
          </a:p>
          <a:p>
            <a:pPr algn="l" marL="1123639" indent="-374546" lvl="2">
              <a:lnSpc>
                <a:spcPts val="3122"/>
              </a:lnSpc>
              <a:buFont typeface="Arial"/>
              <a:buChar char="⚬"/>
            </a:pPr>
            <a:r>
              <a:rPr lang="en-US" sz="2602" spc="-46">
                <a:solidFill>
                  <a:srgbClr val="3C5366"/>
                </a:solidFill>
                <a:latin typeface="Inter"/>
                <a:ea typeface="Inter"/>
                <a:cs typeface="Inter"/>
                <a:sym typeface="Inter"/>
              </a:rPr>
              <a:t>Debt counseling &amp; financial planning</a:t>
            </a:r>
          </a:p>
          <a:p>
            <a:pPr algn="l" marL="1123639" indent="-374546" lvl="2">
              <a:lnSpc>
                <a:spcPts val="3122"/>
              </a:lnSpc>
              <a:buFont typeface="Arial"/>
              <a:buChar char="⚬"/>
            </a:pPr>
            <a:r>
              <a:rPr lang="en-US" b="true" sz="2602" spc="-46">
                <a:solidFill>
                  <a:srgbClr val="3C5366"/>
                </a:solidFill>
                <a:latin typeface="Inter Bold"/>
                <a:ea typeface="Inter Bold"/>
                <a:cs typeface="Inter Bold"/>
                <a:sym typeface="Inter Bold"/>
              </a:rPr>
              <a:t>Regulation of predatory lending</a:t>
            </a:r>
          </a:p>
          <a:p>
            <a:pPr algn="l">
              <a:lnSpc>
                <a:spcPts val="8557"/>
              </a:lnSpc>
            </a:pPr>
          </a:p>
        </p:txBody>
      </p:sp>
      <p:sp>
        <p:nvSpPr>
          <p:cNvPr name="TextBox 8" id="8"/>
          <p:cNvSpPr txBox="true"/>
          <p:nvPr/>
        </p:nvSpPr>
        <p:spPr>
          <a:xfrm rot="0">
            <a:off x="9660819" y="1547024"/>
            <a:ext cx="7276370" cy="6828682"/>
          </a:xfrm>
          <a:prstGeom prst="rect">
            <a:avLst/>
          </a:prstGeom>
        </p:spPr>
        <p:txBody>
          <a:bodyPr anchor="t" rtlCol="false" tIns="0" lIns="0" bIns="0" rIns="0">
            <a:spAutoFit/>
          </a:bodyPr>
          <a:lstStyle/>
          <a:p>
            <a:pPr algn="l">
              <a:lnSpc>
                <a:spcPts val="3114"/>
              </a:lnSpc>
            </a:pPr>
          </a:p>
          <a:p>
            <a:pPr algn="l" marL="560366" indent="-280183" lvl="1">
              <a:lnSpc>
                <a:spcPts val="3114"/>
              </a:lnSpc>
              <a:buFont typeface="Arial"/>
              <a:buChar char="•"/>
            </a:pPr>
            <a:r>
              <a:rPr lang="en-US" b="true" sz="2595" spc="-46">
                <a:solidFill>
                  <a:srgbClr val="3C5366"/>
                </a:solidFill>
                <a:latin typeface="Inter Bold"/>
                <a:ea typeface="Inter Bold"/>
                <a:cs typeface="Inter Bold"/>
                <a:sym typeface="Inter Bold"/>
              </a:rPr>
              <a:t>Savings Incentives</a:t>
            </a:r>
          </a:p>
          <a:p>
            <a:pPr algn="l" marL="1120733" indent="-373578" lvl="2">
              <a:lnSpc>
                <a:spcPts val="3114"/>
              </a:lnSpc>
              <a:buFont typeface="Arial"/>
              <a:buChar char="⚬"/>
            </a:pPr>
            <a:r>
              <a:rPr lang="en-US" b="true" sz="2595" spc="-46">
                <a:solidFill>
                  <a:srgbClr val="3C5366"/>
                </a:solidFill>
                <a:latin typeface="Inter Bold"/>
                <a:ea typeface="Inter Bold"/>
                <a:cs typeface="Inter Bold"/>
                <a:sym typeface="Inter Bold"/>
              </a:rPr>
              <a:t>Prom</a:t>
            </a:r>
            <a:r>
              <a:rPr lang="en-US" b="true" sz="2595" spc="-46">
                <a:solidFill>
                  <a:srgbClr val="3C5366"/>
                </a:solidFill>
                <a:latin typeface="Inter Bold"/>
                <a:ea typeface="Inter Bold"/>
                <a:cs typeface="Inter Bold"/>
                <a:sym typeface="Inter Bold"/>
              </a:rPr>
              <a:t>ote TFSA / RRSP contributions</a:t>
            </a:r>
          </a:p>
          <a:p>
            <a:pPr algn="l" marL="1120733" indent="-373578" lvl="2">
              <a:lnSpc>
                <a:spcPts val="3114"/>
              </a:lnSpc>
              <a:buFont typeface="Arial"/>
              <a:buChar char="⚬"/>
            </a:pPr>
            <a:r>
              <a:rPr lang="en-US" sz="2595" spc="-46">
                <a:solidFill>
                  <a:srgbClr val="3C5366"/>
                </a:solidFill>
                <a:latin typeface="Inter"/>
                <a:ea typeface="Inter"/>
                <a:cs typeface="Inter"/>
                <a:sym typeface="Inter"/>
              </a:rPr>
              <a:t>Matching programs / tax incentives</a:t>
            </a:r>
          </a:p>
          <a:p>
            <a:pPr algn="l" marL="1120733" indent="-373578" lvl="2">
              <a:lnSpc>
                <a:spcPts val="3114"/>
              </a:lnSpc>
              <a:buFont typeface="Arial"/>
              <a:buChar char="⚬"/>
            </a:pPr>
            <a:r>
              <a:rPr lang="en-US" sz="2595" spc="-46">
                <a:solidFill>
                  <a:srgbClr val="3C5366"/>
                </a:solidFill>
                <a:latin typeface="Inter"/>
                <a:ea typeface="Inter"/>
                <a:cs typeface="Inter"/>
                <a:sym typeface="Inter"/>
              </a:rPr>
              <a:t>Automatic enrollment in workplace plans</a:t>
            </a:r>
          </a:p>
          <a:p>
            <a:pPr algn="l" marL="560366" indent="-280183" lvl="1">
              <a:lnSpc>
                <a:spcPts val="3114"/>
              </a:lnSpc>
              <a:buFont typeface="Arial"/>
              <a:buChar char="•"/>
            </a:pPr>
            <a:r>
              <a:rPr lang="en-US" b="true" sz="2595" spc="-46">
                <a:solidFill>
                  <a:srgbClr val="3C5366"/>
                </a:solidFill>
                <a:latin typeface="Inter Bold"/>
                <a:ea typeface="Inter Bold"/>
                <a:cs typeface="Inter Bold"/>
                <a:sym typeface="Inter Bold"/>
              </a:rPr>
              <a:t>COVID-19 Recovery</a:t>
            </a:r>
          </a:p>
          <a:p>
            <a:pPr algn="l" marL="1120733" indent="-373578" lvl="2">
              <a:lnSpc>
                <a:spcPts val="3114"/>
              </a:lnSpc>
              <a:buFont typeface="Arial"/>
              <a:buChar char="⚬"/>
            </a:pPr>
            <a:r>
              <a:rPr lang="en-US" sz="2595" spc="-46">
                <a:solidFill>
                  <a:srgbClr val="3C5366"/>
                </a:solidFill>
                <a:latin typeface="Inter"/>
                <a:ea typeface="Inter"/>
                <a:cs typeface="Inter"/>
                <a:sym typeface="Inter"/>
              </a:rPr>
              <a:t>31% experienced financial decline</a:t>
            </a:r>
          </a:p>
          <a:p>
            <a:pPr algn="l" marL="1120733" indent="-373578" lvl="2">
              <a:lnSpc>
                <a:spcPts val="3114"/>
              </a:lnSpc>
              <a:buFont typeface="Arial"/>
              <a:buChar char="⚬"/>
            </a:pPr>
            <a:r>
              <a:rPr lang="en-US" sz="2595" spc="-46">
                <a:solidFill>
                  <a:srgbClr val="3C5366"/>
                </a:solidFill>
                <a:latin typeface="Inter"/>
                <a:ea typeface="Inter"/>
                <a:cs typeface="Inter"/>
                <a:sym typeface="Inter"/>
              </a:rPr>
              <a:t>Targeted support: low-income, service sector</a:t>
            </a:r>
          </a:p>
          <a:p>
            <a:pPr algn="l" marL="1120733" indent="-373578" lvl="2">
              <a:lnSpc>
                <a:spcPts val="3114"/>
              </a:lnSpc>
              <a:buFont typeface="Arial"/>
              <a:buChar char="⚬"/>
            </a:pPr>
            <a:r>
              <a:rPr lang="en-US" b="true" sz="2595" spc="-46">
                <a:solidFill>
                  <a:srgbClr val="3C5366"/>
                </a:solidFill>
                <a:latin typeface="Inter Bold"/>
                <a:ea typeface="Inter Bold"/>
                <a:cs typeface="Inter Bold"/>
                <a:sym typeface="Inter Bold"/>
              </a:rPr>
              <a:t>Stronger social safety nets</a:t>
            </a:r>
          </a:p>
          <a:p>
            <a:pPr algn="l" marL="560366" indent="-280183" lvl="1">
              <a:lnSpc>
                <a:spcPts val="3114"/>
              </a:lnSpc>
              <a:buFont typeface="Arial"/>
              <a:buChar char="•"/>
            </a:pPr>
            <a:r>
              <a:rPr lang="en-US" b="true" sz="2595" spc="-46">
                <a:solidFill>
                  <a:srgbClr val="3C5366"/>
                </a:solidFill>
                <a:latin typeface="Inter Bold"/>
                <a:ea typeface="Inter Bold"/>
                <a:cs typeface="Inter Bold"/>
                <a:sym typeface="Inter Bold"/>
              </a:rPr>
              <a:t>Wealth Inequality</a:t>
            </a:r>
          </a:p>
          <a:p>
            <a:pPr algn="l" marL="1120733" indent="-373578" lvl="2">
              <a:lnSpc>
                <a:spcPts val="3114"/>
              </a:lnSpc>
              <a:buFont typeface="Arial"/>
              <a:buChar char="⚬"/>
            </a:pPr>
            <a:r>
              <a:rPr lang="en-US" sz="2595" spc="-46">
                <a:solidFill>
                  <a:srgbClr val="3C5366"/>
                </a:solidFill>
                <a:latin typeface="Inter"/>
                <a:ea typeface="Inter"/>
                <a:cs typeface="Inter"/>
                <a:sym typeface="Inter"/>
              </a:rPr>
              <a:t>Larg</a:t>
            </a:r>
            <a:r>
              <a:rPr lang="en-US" sz="2595" spc="-46">
                <a:solidFill>
                  <a:srgbClr val="3C5366"/>
                </a:solidFill>
                <a:latin typeface="Inter"/>
                <a:ea typeface="Inter"/>
                <a:cs typeface="Inter"/>
                <a:sym typeface="Inter"/>
              </a:rPr>
              <a:t>e gap: median vs 75th percentile wealth</a:t>
            </a:r>
          </a:p>
          <a:p>
            <a:pPr algn="l" marL="1120733" indent="-373578" lvl="2">
              <a:lnSpc>
                <a:spcPts val="3114"/>
              </a:lnSpc>
              <a:buFont typeface="Arial"/>
              <a:buChar char="⚬"/>
            </a:pPr>
            <a:r>
              <a:rPr lang="en-US" b="true" sz="2595" spc="-46">
                <a:solidFill>
                  <a:srgbClr val="3C5366"/>
                </a:solidFill>
                <a:latin typeface="Inter Bold"/>
                <a:ea typeface="Inter Bold"/>
                <a:cs typeface="Inter Bold"/>
                <a:sym typeface="Inter Bold"/>
              </a:rPr>
              <a:t>Progressive taxation</a:t>
            </a:r>
          </a:p>
          <a:p>
            <a:pPr algn="l" marL="1120733" indent="-373578" lvl="2">
              <a:lnSpc>
                <a:spcPts val="3114"/>
              </a:lnSpc>
              <a:buFont typeface="Arial"/>
              <a:buChar char="⚬"/>
            </a:pPr>
            <a:r>
              <a:rPr lang="en-US" b="true" sz="2595" spc="-46">
                <a:solidFill>
                  <a:srgbClr val="3C5366"/>
                </a:solidFill>
                <a:latin typeface="Inter Bold"/>
                <a:ea typeface="Inter Bold"/>
                <a:cs typeface="Inter Bold"/>
                <a:sym typeface="Inter Bold"/>
              </a:rPr>
              <a:t>Redistribution measures</a:t>
            </a:r>
          </a:p>
          <a:p>
            <a:pPr algn="l">
              <a:lnSpc>
                <a:spcPts val="801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480441" y="8903189"/>
            <a:ext cx="545097" cy="1426245"/>
          </a:xfrm>
          <a:custGeom>
            <a:avLst/>
            <a:gdLst/>
            <a:ahLst/>
            <a:cxnLst/>
            <a:rect r="r" b="b" t="t" l="l"/>
            <a:pathLst>
              <a:path h="1426245" w="545097">
                <a:moveTo>
                  <a:pt x="0" y="0"/>
                </a:moveTo>
                <a:lnTo>
                  <a:pt x="545097" y="0"/>
                </a:lnTo>
                <a:lnTo>
                  <a:pt x="545097" y="1426245"/>
                </a:lnTo>
                <a:lnTo>
                  <a:pt x="0" y="142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995952" y="0"/>
            <a:ext cx="2292048" cy="1357798"/>
          </a:xfrm>
          <a:custGeom>
            <a:avLst/>
            <a:gdLst/>
            <a:ahLst/>
            <a:cxnLst/>
            <a:rect r="r" b="b" t="t" l="l"/>
            <a:pathLst>
              <a:path h="1357798" w="2292048">
                <a:moveTo>
                  <a:pt x="0" y="0"/>
                </a:moveTo>
                <a:lnTo>
                  <a:pt x="2292048" y="0"/>
                </a:lnTo>
                <a:lnTo>
                  <a:pt x="2292048" y="1357798"/>
                </a:lnTo>
                <a:lnTo>
                  <a:pt x="0" y="13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416719" y="932653"/>
            <a:ext cx="9454552" cy="2533650"/>
          </a:xfrm>
          <a:prstGeom prst="rect">
            <a:avLst/>
          </a:prstGeom>
        </p:spPr>
        <p:txBody>
          <a:bodyPr anchor="t" rtlCol="false" tIns="0" lIns="0" bIns="0" rIns="0">
            <a:spAutoFit/>
          </a:bodyPr>
          <a:lstStyle/>
          <a:p>
            <a:pPr algn="ctr">
              <a:lnSpc>
                <a:spcPts val="7199"/>
              </a:lnSpc>
              <a:spcBef>
                <a:spcPct val="0"/>
              </a:spcBef>
            </a:pPr>
            <a:r>
              <a:rPr lang="en-US" b="true" sz="5999" spc="-107">
                <a:solidFill>
                  <a:srgbClr val="3C5366"/>
                </a:solidFill>
                <a:latin typeface="Inter Bold"/>
                <a:ea typeface="Inter Bold"/>
                <a:cs typeface="Inter Bold"/>
                <a:sym typeface="Inter Bold"/>
              </a:rPr>
              <a:t>C</a:t>
            </a:r>
            <a:r>
              <a:rPr lang="en-US" b="true" sz="5999" spc="-107">
                <a:solidFill>
                  <a:srgbClr val="3C5366"/>
                </a:solidFill>
                <a:latin typeface="Inter Bold"/>
                <a:ea typeface="Inter Bold"/>
                <a:cs typeface="Inter Bold"/>
                <a:sym typeface="Inter Bold"/>
              </a:rPr>
              <a:t>onclusion</a:t>
            </a:r>
          </a:p>
          <a:p>
            <a:pPr algn="ctr">
              <a:lnSpc>
                <a:spcPts val="6480"/>
              </a:lnSpc>
              <a:spcBef>
                <a:spcPct val="0"/>
              </a:spcBef>
            </a:pPr>
          </a:p>
          <a:p>
            <a:pPr algn="ctr">
              <a:lnSpc>
                <a:spcPts val="6480"/>
              </a:lnSpc>
              <a:spcBef>
                <a:spcPct val="0"/>
              </a:spcBef>
            </a:pPr>
          </a:p>
        </p:txBody>
      </p:sp>
      <p:sp>
        <p:nvSpPr>
          <p:cNvPr name="TextBox 7" id="7"/>
          <p:cNvSpPr txBox="true"/>
          <p:nvPr/>
        </p:nvSpPr>
        <p:spPr>
          <a:xfrm rot="0">
            <a:off x="752989" y="1819275"/>
            <a:ext cx="16820331" cy="7439025"/>
          </a:xfrm>
          <a:prstGeom prst="rect">
            <a:avLst/>
          </a:prstGeom>
        </p:spPr>
        <p:txBody>
          <a:bodyPr anchor="t" rtlCol="false" tIns="0" lIns="0" bIns="0" rIns="0">
            <a:spAutoFit/>
          </a:bodyPr>
          <a:lstStyle/>
          <a:p>
            <a:pPr algn="l">
              <a:lnSpc>
                <a:spcPts val="2073"/>
              </a:lnSpc>
            </a:pPr>
            <a:r>
              <a:rPr lang="en-US" b="true" sz="1728" spc="-8">
                <a:solidFill>
                  <a:srgbClr val="3C5366"/>
                </a:solidFill>
                <a:latin typeface="Inter Bold"/>
                <a:ea typeface="Inter Bold"/>
                <a:cs typeface="Inter Bold"/>
                <a:sym typeface="Inter Bold"/>
              </a:rPr>
              <a:t>This comprehensive analysis of 16,208 Canadian households reveals several critical insights</a:t>
            </a:r>
          </a:p>
          <a:p>
            <a:pPr algn="l" marL="373119" indent="-186559" lvl="1">
              <a:lnSpc>
                <a:spcPts val="2073"/>
              </a:lnSpc>
              <a:buFont typeface="Arial"/>
              <a:buChar char="•"/>
            </a:pPr>
            <a:r>
              <a:rPr lang="en-US" sz="1728" spc="-8">
                <a:solidFill>
                  <a:srgbClr val="3C5366"/>
                </a:solidFill>
                <a:latin typeface="Inter"/>
                <a:ea typeface="Inter"/>
                <a:cs typeface="Inter"/>
                <a:sym typeface="Inter"/>
              </a:rPr>
              <a:t>Wealth Accumulation is Time-Dependent:</a:t>
            </a:r>
            <a:r>
              <a:rPr lang="en-US" sz="1728" spc="-8">
                <a:solidFill>
                  <a:srgbClr val="3C5366"/>
                </a:solidFill>
                <a:latin typeface="Inter"/>
                <a:ea typeface="Inter"/>
                <a:cs typeface="Inter"/>
                <a:sym typeface="Inter"/>
              </a:rPr>
              <a:t>Net worth peaks at ages 55-64, demonstrating the importance of long-term saving and investing strategies starting early in life.</a:t>
            </a:r>
          </a:p>
          <a:p>
            <a:pPr algn="l" marL="373119" indent="-186559" lvl="1">
              <a:lnSpc>
                <a:spcPts val="2073"/>
              </a:lnSpc>
              <a:buFont typeface="Arial"/>
              <a:buChar char="•"/>
            </a:pPr>
            <a:r>
              <a:rPr lang="en-US" sz="1728" spc="-8">
                <a:solidFill>
                  <a:srgbClr val="3C5366"/>
                </a:solidFill>
                <a:latin typeface="Inter"/>
                <a:ea typeface="Inter"/>
                <a:cs typeface="Inter"/>
                <a:sym typeface="Inter"/>
              </a:rPr>
              <a:t>Home Ownership is a Wealth Multiplier:</a:t>
            </a:r>
            <a:r>
              <a:rPr lang="en-US" sz="1728" spc="-8">
                <a:solidFill>
                  <a:srgbClr val="3C5366"/>
                </a:solidFill>
                <a:latin typeface="Inter"/>
                <a:ea typeface="Inter"/>
                <a:cs typeface="Inter"/>
                <a:sym typeface="Inter"/>
              </a:rPr>
              <a:t>Homeowners have 4-7x the net worth of renters, making housing policy central to addressing wealth inequality.</a:t>
            </a:r>
          </a:p>
          <a:p>
            <a:pPr algn="l" marL="373119" indent="-186559" lvl="1">
              <a:lnSpc>
                <a:spcPts val="2073"/>
              </a:lnSpc>
              <a:buFont typeface="Arial"/>
              <a:buChar char="•"/>
            </a:pPr>
            <a:r>
              <a:rPr lang="en-US" sz="1728" spc="-8">
                <a:solidFill>
                  <a:srgbClr val="3C5366"/>
                </a:solidFill>
                <a:latin typeface="Inter"/>
                <a:ea typeface="Inter"/>
                <a:cs typeface="Inter"/>
                <a:sym typeface="Inter"/>
              </a:rPr>
              <a:t>Education Provides Clear Advantages:</a:t>
            </a:r>
            <a:r>
              <a:rPr lang="en-US" sz="1728" spc="-8">
                <a:solidFill>
                  <a:srgbClr val="3C5366"/>
                </a:solidFill>
                <a:latin typeface="Inter"/>
                <a:ea typeface="Inter"/>
                <a:cs typeface="Inter"/>
                <a:sym typeface="Inter"/>
              </a:rPr>
              <a:t>University graduates show higher net worth and financial resilience, supporting the value of accessible post-secondary education.</a:t>
            </a:r>
          </a:p>
          <a:p>
            <a:pPr algn="l" marL="373119" indent="-186559" lvl="1">
              <a:lnSpc>
                <a:spcPts val="2073"/>
              </a:lnSpc>
              <a:buFont typeface="Arial"/>
              <a:buChar char="•"/>
            </a:pPr>
            <a:r>
              <a:rPr lang="en-US" sz="1728" spc="-8">
                <a:solidFill>
                  <a:srgbClr val="3C5366"/>
                </a:solidFill>
                <a:latin typeface="Inter"/>
                <a:ea typeface="Inter"/>
                <a:cs typeface="Inter"/>
                <a:sym typeface="Inter"/>
              </a:rPr>
              <a:t> </a:t>
            </a:r>
            <a:r>
              <a:rPr lang="en-US" sz="1728" spc="-8">
                <a:solidFill>
                  <a:srgbClr val="3C5366"/>
                </a:solidFill>
                <a:latin typeface="Inter"/>
                <a:ea typeface="Inter"/>
                <a:cs typeface="Inter"/>
                <a:sym typeface="Inter"/>
              </a:rPr>
              <a:t>Financial Behavior Matters:</a:t>
            </a:r>
            <a:r>
              <a:rPr lang="en-US" sz="1728" spc="-8">
                <a:solidFill>
                  <a:srgbClr val="3C5366"/>
                </a:solidFill>
                <a:latin typeface="Inter"/>
                <a:ea typeface="Inter"/>
                <a:cs typeface="Inter"/>
                <a:sym typeface="Inter"/>
              </a:rPr>
              <a:t>Credit card payment patterns correlate with overall financial health, suggesting money management skills are as important as income.</a:t>
            </a:r>
          </a:p>
          <a:p>
            <a:pPr algn="l" marL="373119" indent="-186559" lvl="1">
              <a:lnSpc>
                <a:spcPts val="2073"/>
              </a:lnSpc>
              <a:buFont typeface="Arial"/>
              <a:buChar char="•"/>
            </a:pPr>
            <a:r>
              <a:rPr lang="en-US" sz="1728" spc="-8">
                <a:solidFill>
                  <a:srgbClr val="3C5366"/>
                </a:solidFill>
                <a:latin typeface="Inter"/>
                <a:ea typeface="Inter"/>
                <a:cs typeface="Inter"/>
                <a:sym typeface="Inter"/>
              </a:rPr>
              <a:t>Wealth Inequality is Significant:</a:t>
            </a:r>
            <a:r>
              <a:rPr lang="en-US" sz="1728" spc="-8">
                <a:solidFill>
                  <a:srgbClr val="3C5366"/>
                </a:solidFill>
                <a:latin typeface="Inter"/>
                <a:ea typeface="Inter"/>
                <a:cs typeface="Inter"/>
                <a:sym typeface="Inter"/>
              </a:rPr>
              <a:t>The distribution of net worth shows substantial inequality, with the top quartile holding significantly more wealth than the median household.</a:t>
            </a:r>
          </a:p>
          <a:p>
            <a:pPr algn="l" marL="373119" indent="-186559" lvl="1">
              <a:lnSpc>
                <a:spcPts val="2073"/>
              </a:lnSpc>
              <a:buFont typeface="Arial"/>
              <a:buChar char="•"/>
            </a:pPr>
            <a:r>
              <a:rPr lang="en-US" sz="1728" spc="-8">
                <a:solidFill>
                  <a:srgbClr val="3C5366"/>
                </a:solidFill>
                <a:latin typeface="Inter"/>
                <a:ea typeface="Inter"/>
                <a:cs typeface="Inter"/>
                <a:sym typeface="Inter"/>
              </a:rPr>
              <a:t>COVID-19 Impacts Varied Widely:</a:t>
            </a:r>
            <a:r>
              <a:rPr lang="en-US" sz="1728" spc="-8">
                <a:solidFill>
                  <a:srgbClr val="3C5366"/>
                </a:solidFill>
                <a:latin typeface="Inter"/>
                <a:ea typeface="Inter"/>
                <a:cs typeface="Inter"/>
                <a:sym typeface="Inter"/>
              </a:rPr>
              <a:t>While most households were financially resilient, 31% experienced worsening conditions, highlighting vulnerability in certain demographics.</a:t>
            </a:r>
          </a:p>
          <a:p>
            <a:pPr algn="l">
              <a:lnSpc>
                <a:spcPts val="2073"/>
              </a:lnSpc>
            </a:pPr>
            <a:r>
              <a:rPr lang="en-US" b="true" sz="1728" spc="-8">
                <a:solidFill>
                  <a:srgbClr val="3C5366"/>
                </a:solidFill>
                <a:latin typeface="Inter Bold"/>
                <a:ea typeface="Inter Bold"/>
                <a:cs typeface="Inter Bold"/>
                <a:sym typeface="Inter Bold"/>
              </a:rPr>
              <a:t>Future</a:t>
            </a:r>
            <a:r>
              <a:rPr lang="en-US" b="true" sz="1728" spc="-8">
                <a:solidFill>
                  <a:srgbClr val="3C5366"/>
                </a:solidFill>
                <a:latin typeface="Inter Bold"/>
                <a:ea typeface="Inter Bold"/>
                <a:cs typeface="Inter Bold"/>
                <a:sym typeface="Inter Bold"/>
              </a:rPr>
              <a:t>Research Directions</a:t>
            </a:r>
          </a:p>
          <a:p>
            <a:pPr algn="just" marL="373119" indent="-186559" lvl="1">
              <a:lnSpc>
                <a:spcPts val="2073"/>
              </a:lnSpc>
              <a:buFont typeface="Arial"/>
              <a:buChar char="•"/>
            </a:pPr>
            <a:r>
              <a:rPr lang="en-US" sz="1728">
                <a:solidFill>
                  <a:srgbClr val="3C5366"/>
                </a:solidFill>
                <a:latin typeface="Inter"/>
                <a:ea typeface="Inter"/>
                <a:cs typeface="Inter"/>
                <a:sym typeface="Inter"/>
              </a:rPr>
              <a:t>Longitudinal analysis to track wealth accumulation over time</a:t>
            </a:r>
          </a:p>
          <a:p>
            <a:pPr algn="just" marL="373119" indent="-186559" lvl="1">
              <a:lnSpc>
                <a:spcPts val="2073"/>
              </a:lnSpc>
              <a:buFont typeface="Arial"/>
              <a:buChar char="•"/>
            </a:pPr>
            <a:r>
              <a:rPr lang="en-US" sz="1728">
                <a:solidFill>
                  <a:srgbClr val="3C5366"/>
                </a:solidFill>
                <a:latin typeface="Inter"/>
                <a:ea typeface="Inter"/>
                <a:cs typeface="Inter"/>
                <a:sym typeface="Inter"/>
              </a:rPr>
              <a:t>Intergenerational wealth transfer patterns</a:t>
            </a:r>
          </a:p>
          <a:p>
            <a:pPr algn="just" marL="373119" indent="-186559" lvl="1">
              <a:lnSpc>
                <a:spcPts val="2073"/>
              </a:lnSpc>
              <a:buFont typeface="Arial"/>
              <a:buChar char="•"/>
            </a:pPr>
            <a:r>
              <a:rPr lang="en-US" sz="1728">
                <a:solidFill>
                  <a:srgbClr val="3C5366"/>
                </a:solidFill>
                <a:latin typeface="Inter"/>
                <a:ea typeface="Inter"/>
                <a:cs typeface="Inter"/>
                <a:sym typeface="Inter"/>
              </a:rPr>
              <a:t>Impact of rising interest rates on household debt sustainability</a:t>
            </a:r>
          </a:p>
          <a:p>
            <a:pPr algn="just" marL="373119" indent="-186559" lvl="1">
              <a:lnSpc>
                <a:spcPts val="2073"/>
              </a:lnSpc>
              <a:buFont typeface="Arial"/>
              <a:buChar char="•"/>
            </a:pPr>
            <a:r>
              <a:rPr lang="en-US" sz="1728">
                <a:solidFill>
                  <a:srgbClr val="3C5366"/>
                </a:solidFill>
                <a:latin typeface="Inter"/>
                <a:ea typeface="Inter"/>
                <a:cs typeface="Inter"/>
                <a:sym typeface="Inter"/>
              </a:rPr>
              <a:t>Regional and urban-rural comparisons</a:t>
            </a:r>
          </a:p>
          <a:p>
            <a:pPr algn="just" marL="407920" indent="-203960" lvl="1">
              <a:lnSpc>
                <a:spcPts val="2267"/>
              </a:lnSpc>
              <a:buFont typeface="Arial"/>
              <a:buChar char="•"/>
            </a:pPr>
            <a:r>
              <a:rPr lang="en-US" sz="1889">
                <a:solidFill>
                  <a:srgbClr val="3C5366"/>
                </a:solidFill>
                <a:latin typeface="Inter"/>
                <a:ea typeface="Inter"/>
                <a:cs typeface="Inter"/>
                <a:sym typeface="Inter"/>
              </a:rPr>
              <a:t>Gender and immigration status analysis with additional data</a:t>
            </a:r>
          </a:p>
          <a:p>
            <a:pPr algn="just">
              <a:lnSpc>
                <a:spcPts val="2267"/>
              </a:lnSpc>
            </a:pPr>
            <a:r>
              <a:rPr lang="en-US" b="true" sz="1889">
                <a:solidFill>
                  <a:srgbClr val="3C5366"/>
                </a:solidFill>
                <a:latin typeface="Inter Bold"/>
                <a:ea typeface="Inter Bold"/>
                <a:cs typeface="Inter Bold"/>
                <a:sym typeface="Inter Bold"/>
              </a:rPr>
              <a:t>Methodology Notes</a:t>
            </a:r>
          </a:p>
          <a:p>
            <a:pPr algn="just" marL="407920" indent="-203960" lvl="1">
              <a:lnSpc>
                <a:spcPts val="2267"/>
              </a:lnSpc>
              <a:buFont typeface="Arial"/>
              <a:buChar char="•"/>
            </a:pPr>
            <a:r>
              <a:rPr lang="en-US" sz="1889">
                <a:solidFill>
                  <a:srgbClr val="3C5366"/>
                </a:solidFill>
                <a:latin typeface="Inter"/>
                <a:ea typeface="Inter"/>
                <a:cs typeface="Inter"/>
                <a:sym typeface="Inter"/>
              </a:rPr>
              <a:t>Data cleaned to remove extreme outliers net worth 20M, income 1M</a:t>
            </a:r>
          </a:p>
          <a:p>
            <a:pPr algn="just" marL="407920" indent="-203960" lvl="1">
              <a:lnSpc>
                <a:spcPts val="2267"/>
              </a:lnSpc>
              <a:buFont typeface="Arial"/>
              <a:buChar char="•"/>
            </a:pPr>
            <a:r>
              <a:rPr lang="en-US" sz="1889">
                <a:solidFill>
                  <a:srgbClr val="3C5366"/>
                </a:solidFill>
                <a:latin typeface="Inter"/>
                <a:ea typeface="Inter"/>
                <a:cs typeface="Inter"/>
                <a:sym typeface="Inter"/>
              </a:rPr>
              <a:t>All monetary values reported in Canadian dollars</a:t>
            </a:r>
          </a:p>
          <a:p>
            <a:pPr algn="just" marL="407920" indent="-203960" lvl="1">
              <a:lnSpc>
                <a:spcPts val="2267"/>
              </a:lnSpc>
              <a:buFont typeface="Arial"/>
              <a:buChar char="•"/>
            </a:pPr>
            <a:r>
              <a:rPr lang="en-US" sz="1889">
                <a:solidFill>
                  <a:srgbClr val="3C5366"/>
                </a:solidFill>
                <a:latin typeface="Inter"/>
                <a:ea typeface="Inter"/>
                <a:cs typeface="Inter"/>
                <a:sym typeface="Inter"/>
              </a:rPr>
              <a:t>Analysis based on 2022 survey data</a:t>
            </a:r>
          </a:p>
          <a:p>
            <a:pPr algn="just" marL="407920" indent="-203960" lvl="1">
              <a:lnSpc>
                <a:spcPts val="2267"/>
              </a:lnSpc>
              <a:buFont typeface="Arial"/>
              <a:buChar char="•"/>
            </a:pPr>
            <a:r>
              <a:rPr lang="en-US" sz="1889">
                <a:solidFill>
                  <a:srgbClr val="3C5366"/>
                </a:solidFill>
                <a:latin typeface="Inter"/>
                <a:ea typeface="Inter"/>
                <a:cs typeface="Inter"/>
                <a:sym typeface="Inter"/>
              </a:rPr>
              <a:t>Sample designed to be representative of Canadian households</a:t>
            </a:r>
          </a:p>
          <a:p>
            <a:pPr algn="l">
              <a:lnSpc>
                <a:spcPts val="2267"/>
              </a:lnSpc>
            </a:pPr>
            <a:r>
              <a:rPr lang="en-US" sz="1889" spc="-9">
                <a:solidFill>
                  <a:srgbClr val="3C5366"/>
                </a:solidFill>
                <a:latin typeface="Inter"/>
                <a:ea typeface="Inter"/>
                <a:cs typeface="Inter"/>
                <a:sym typeface="Inter"/>
              </a:rPr>
              <a:t>         </a:t>
            </a:r>
          </a:p>
          <a:p>
            <a:pPr algn="l">
              <a:lnSpc>
                <a:spcPts val="2267"/>
              </a:lnSpc>
            </a:pPr>
            <a:r>
              <a:rPr lang="en-US" sz="1889" spc="-9">
                <a:solidFill>
                  <a:srgbClr val="3C5366"/>
                </a:solidFill>
                <a:latin typeface="Inter"/>
                <a:ea typeface="Inter"/>
                <a:cs typeface="Inter"/>
                <a:sym typeface="Inter"/>
              </a:rPr>
              <a:t>     </a:t>
            </a:r>
            <a:r>
              <a:rPr lang="en-US" sz="1889" spc="-9">
                <a:solidFill>
                  <a:srgbClr val="3C5366"/>
                </a:solidFill>
                <a:latin typeface="Inter"/>
                <a:ea typeface="Inter"/>
                <a:cs typeface="Inter"/>
                <a:sym typeface="Inter"/>
              </a:rPr>
              <a:t>This analysis provides a foundation for understanding household financial health in Canada and can inform policy decisions, financial product development, and individual financial planning strategies.</a:t>
            </a:r>
          </a:p>
          <a:p>
            <a:pPr algn="just">
              <a:lnSpc>
                <a:spcPts val="5942"/>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CF6FA"/>
        </a:solidFill>
      </p:bgPr>
    </p:bg>
    <p:spTree>
      <p:nvGrpSpPr>
        <p:cNvPr id="1" name=""/>
        <p:cNvGrpSpPr/>
        <p:nvPr/>
      </p:nvGrpSpPr>
      <p:grpSpPr>
        <a:xfrm>
          <a:off x="0" y="0"/>
          <a:ext cx="0" cy="0"/>
          <a:chOff x="0" y="0"/>
          <a:chExt cx="0" cy="0"/>
        </a:xfrm>
      </p:grpSpPr>
      <p:grpSp>
        <p:nvGrpSpPr>
          <p:cNvPr name="Group 2" id="2"/>
          <p:cNvGrpSpPr/>
          <p:nvPr/>
        </p:nvGrpSpPr>
        <p:grpSpPr>
          <a:xfrm rot="0">
            <a:off x="714670" y="649872"/>
            <a:ext cx="16858650" cy="8987247"/>
            <a:chOff x="0" y="0"/>
            <a:chExt cx="22478200" cy="11982996"/>
          </a:xfrm>
        </p:grpSpPr>
        <p:sp>
          <p:nvSpPr>
            <p:cNvPr name="Freeform 3" id="3"/>
            <p:cNvSpPr/>
            <p:nvPr/>
          </p:nvSpPr>
          <p:spPr>
            <a:xfrm flipH="false" flipV="false" rot="0">
              <a:off x="0" y="0"/>
              <a:ext cx="22478237" cy="11982958"/>
            </a:xfrm>
            <a:custGeom>
              <a:avLst/>
              <a:gdLst/>
              <a:ahLst/>
              <a:cxnLst/>
              <a:rect r="r" b="b" t="t" l="l"/>
              <a:pathLst>
                <a:path h="11982958" w="22478237">
                  <a:moveTo>
                    <a:pt x="12700" y="0"/>
                  </a:moveTo>
                  <a:lnTo>
                    <a:pt x="22465537" y="0"/>
                  </a:lnTo>
                  <a:cubicBezTo>
                    <a:pt x="22472523" y="0"/>
                    <a:pt x="22478237" y="5715"/>
                    <a:pt x="22478237" y="12700"/>
                  </a:cubicBezTo>
                  <a:lnTo>
                    <a:pt x="22478237" y="11970258"/>
                  </a:lnTo>
                  <a:cubicBezTo>
                    <a:pt x="22478237" y="11977243"/>
                    <a:pt x="22472523" y="11982958"/>
                    <a:pt x="22465537" y="11982958"/>
                  </a:cubicBezTo>
                  <a:lnTo>
                    <a:pt x="12700" y="11982958"/>
                  </a:lnTo>
                  <a:cubicBezTo>
                    <a:pt x="5715" y="11982958"/>
                    <a:pt x="0" y="11977243"/>
                    <a:pt x="0" y="11970258"/>
                  </a:cubicBezTo>
                  <a:lnTo>
                    <a:pt x="0" y="12700"/>
                  </a:lnTo>
                  <a:cubicBezTo>
                    <a:pt x="0" y="5715"/>
                    <a:pt x="5715" y="0"/>
                    <a:pt x="12700" y="0"/>
                  </a:cubicBezTo>
                  <a:moveTo>
                    <a:pt x="12700" y="25400"/>
                  </a:moveTo>
                  <a:lnTo>
                    <a:pt x="12700" y="12700"/>
                  </a:lnTo>
                  <a:lnTo>
                    <a:pt x="25400" y="12700"/>
                  </a:lnTo>
                  <a:lnTo>
                    <a:pt x="25400" y="11970258"/>
                  </a:lnTo>
                  <a:lnTo>
                    <a:pt x="12700" y="11970258"/>
                  </a:lnTo>
                  <a:lnTo>
                    <a:pt x="12700" y="11957558"/>
                  </a:lnTo>
                  <a:lnTo>
                    <a:pt x="22465537" y="11957558"/>
                  </a:lnTo>
                  <a:lnTo>
                    <a:pt x="22465537" y="11970258"/>
                  </a:lnTo>
                  <a:lnTo>
                    <a:pt x="22452837" y="11970258"/>
                  </a:lnTo>
                  <a:lnTo>
                    <a:pt x="22452837" y="12700"/>
                  </a:lnTo>
                  <a:lnTo>
                    <a:pt x="22465537" y="12700"/>
                  </a:lnTo>
                  <a:lnTo>
                    <a:pt x="22465537" y="25400"/>
                  </a:lnTo>
                  <a:lnTo>
                    <a:pt x="12700" y="25400"/>
                  </a:lnTo>
                  <a:close/>
                </a:path>
              </a:pathLst>
            </a:custGeom>
            <a:solidFill>
              <a:srgbClr val="B9C4DA"/>
            </a:solidFill>
          </p:spPr>
        </p:sp>
      </p:grpSp>
      <p:sp>
        <p:nvSpPr>
          <p:cNvPr name="Freeform 4" id="4"/>
          <p:cNvSpPr/>
          <p:nvPr/>
        </p:nvSpPr>
        <p:spPr>
          <a:xfrm flipH="false" flipV="false" rot="0">
            <a:off x="333004" y="410004"/>
            <a:ext cx="1102966" cy="1103052"/>
          </a:xfrm>
          <a:custGeom>
            <a:avLst/>
            <a:gdLst/>
            <a:ahLst/>
            <a:cxnLst/>
            <a:rect r="r" b="b" t="t" l="l"/>
            <a:pathLst>
              <a:path h="1103052" w="1102966">
                <a:moveTo>
                  <a:pt x="0" y="0"/>
                </a:moveTo>
                <a:lnTo>
                  <a:pt x="1102966" y="0"/>
                </a:lnTo>
                <a:lnTo>
                  <a:pt x="1102966" y="1103052"/>
                </a:lnTo>
                <a:lnTo>
                  <a:pt x="0" y="11030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525233" y="3657595"/>
            <a:ext cx="8873896" cy="1485900"/>
          </a:xfrm>
          <a:prstGeom prst="rect">
            <a:avLst/>
          </a:prstGeom>
        </p:spPr>
        <p:txBody>
          <a:bodyPr anchor="t" rtlCol="false" tIns="0" lIns="0" bIns="0" rIns="0">
            <a:spAutoFit/>
          </a:bodyPr>
          <a:lstStyle/>
          <a:p>
            <a:pPr algn="ctr">
              <a:lnSpc>
                <a:spcPts val="11759"/>
              </a:lnSpc>
              <a:spcBef>
                <a:spcPct val="0"/>
              </a:spcBef>
            </a:pPr>
            <a:r>
              <a:rPr lang="en-US" b="true" sz="9799">
                <a:solidFill>
                  <a:srgbClr val="3C5366"/>
                </a:solidFill>
                <a:latin typeface="Inter Bold"/>
                <a:ea typeface="Inter Bold"/>
                <a:cs typeface="Inter Bold"/>
                <a:sym typeface="Inter Bold"/>
              </a:rPr>
              <a:t>T</a:t>
            </a:r>
            <a:r>
              <a:rPr lang="en-US" b="true" sz="9799">
                <a:solidFill>
                  <a:srgbClr val="3C5366"/>
                </a:solidFill>
                <a:latin typeface="Inter Bold"/>
                <a:ea typeface="Inter Bold"/>
                <a:cs typeface="Inter Bold"/>
                <a:sym typeface="Inter Bold"/>
              </a:rPr>
              <a: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DAHCoIUh8uc</dc:identifier>
  <dcterms:modified xsi:type="dcterms:W3CDTF">2011-08-01T06:04:30Z</dcterms:modified>
  <cp:revision>1</cp:revision>
  <dc:title>Project_Slides.pptx</dc:title>
</cp:coreProperties>
</file>